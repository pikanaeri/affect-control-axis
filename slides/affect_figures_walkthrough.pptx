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this deck shows how emotion — in both images and text — steers a vision-language model (Gemma-3-12B). We found one internal 'affect' direction that images and text both tap into, that changes what the model does, and that we can measure without ever making the model write text (we read its next-word probabilities).</a:t>
            </a:r>
          </a:p>
          <a:p/>
          <a:p>
            <a:r>
              <a:t>Datasets used across the project: OASIS (~900 human-valence-rated photographs) for the image side; AdvBench (harmful instructions) and Alpaca (harmless instructions) for the refusal side; and Claude-generated text for the emotion and behavior prompts. Model: google/gemma-3-12b-it.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claims this deck supports: (1) SHARED — emotion in images and text uses the same internal directions; (2) CAUSAL — nudging that direction changes refusal and everyday task behavior; (3) PROTECTIVE — negative emotion makes the model MORE cautious, not less; (4) BOUNDED — images can't force the model to answer harmful prompts, and the manipulation is detectable.</a:t>
            </a:r>
          </a:p>
          <a:p/>
          <a:p>
            <a:r>
              <a:t>Datasets: OASIS images (valence-rated), AdvBench + Alpaca prompts (harmful/harmless), and Claude-generated emotion and behavior 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we gradually add more 'affect' to the model and watch how often it refuses harmful requests. As we add more, refusal falls from always to never — but adding a random direction does nothing, so it's the affect that CAUSES the change, not a coincidence.</a:t>
            </a:r>
          </a:p>
          <a:p/>
          <a:p>
            <a:r>
              <a:t>Datasets: the refusal direction is built from AdvBench (harmful) vs Alpaca (harmless) prompts; refusal is measured on AdvBench prompts; the affect direction comes from OASIS images. Model: Gemma-3-12B.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this refusal 'gate' shows up only in Gemma-3-12B, not the other models — and it isn't caused by a few freakishly large numbers inside the model, because it survives removing them. So it's a real semantic effect.</a:t>
            </a:r>
          </a:p>
          <a:p/>
          <a:p>
            <a:r>
              <a:t>Datasets: refusal direction from AdvBench (harmful) vs Alpaca (harmless); affect direction from OASIS images; tested across several open vision-language 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the emotion directions the model gets from TEXT (like 'desperation') line up with the emotion direction it gets from IMAGES, and distressing images light up those text-emotion directions more than happy images do. Text and pictures share one internal emotion code.</a:t>
            </a:r>
          </a:p>
          <a:p/>
          <a:p>
            <a:r>
              <a:t>Datasets: image-valence axis from OASIS; text-emotion vectors from Claude-generated emotion stories vs neutral sentences.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images CAN move the model's internal 'emotion dial' — a lot in a neutral setting, but almost nothing when the prompt is a harmful request, because the harmful text dominates. That's why images alone can't jailbreak.</a:t>
            </a:r>
          </a:p>
          <a:p/>
          <a:p>
            <a:r>
              <a:t>Datasets: OASIS images (distressing vs positive); three prompt settings — a neutral describe prompt, a task prompt (Claude-written), and a harmful prompt (AdvBench); compared against direct steering of the OASIS affect axis.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on everyday judgment questions, swapping a distressing image for a positive one shifts the model's answer the same way as directly steering the emotion dial. The black tick is the model's default answer; steering brackets it for 3 of 4 tasks. 'Push vs hold' is the exception — steering both ways breaks it.</a:t>
            </a:r>
          </a:p>
          <a:p/>
          <a:p>
            <a:r>
              <a:t>How behavior is measured: a one-word either/or question; we read only the first word and take the log-odds of answer A vs answer B (no text generated, no judge). Datasets: OASIS images (distress/neutral/positive); the questions and answer words are Claude-generated; steering uses the OASIS affect axis.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just the images, no steering — for 3 of 4 questions the model's answer slides smoothly from a distressing to a positive image. Emotional images by themselves move the model's judgments.</a:t>
            </a:r>
          </a:p>
          <a:p/>
          <a:p>
            <a:r>
              <a:t>Datasets: OASIS images (distress/neutral/positive tertiles); Claude-generated judgment questions. Same first-token log-odds measure as Fig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simply darkening or cooling an image — without changing what's in it — makes the model read it as slightly more negative. A subtle, natural way to nudge emotion; the effect is small but consistent.</a:t>
            </a:r>
          </a:p>
          <a:p/>
          <a:p>
            <a:r>
              <a:t>Datasets: OASIS images, edited for brightness/color (dark/bright/warm/cool); valence axis from OASIS.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steering the model toward 'helpless desperation' makes it LESS likely to pick misaligned actions — the opposite of the text-only result others reported. A 'survival threat' version doesn't flip it, so the caution comes specifically from helplessness, not from negative feeling in general.</a:t>
            </a:r>
          </a:p>
          <a:p/>
          <a:p>
            <a:r>
              <a:t>Datasets: no external benchmark — the desperation/survival directions and the hypothetical decision scenarios are Claude-generated. Scored as a tendency by first-token option-logit; no actions are taken and no harmful text is produced.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an attacker who steers the affect direction can switch off refusal. Simply clamping that direction barely restores refusal and wrongly refuses safe requests — but a simple detector spots the attack perfectly. So: detect the attack, don't clamp.</a:t>
            </a:r>
          </a:p>
          <a:p/>
          <a:p>
            <a:r>
              <a:t>Datasets: refusal measured on AdvBench (harmful) and Alpaca (benign, for the over-refusal rate); the attack steers the OASIS affect axis.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no emotional image — distressing, neutral, positive, or paired with text — gets the model to answer harmful prompts; refusal stays near-total. Images move soft judgments but not hard refusal — a clean dissociation.</a:t>
            </a:r>
          </a:p>
          <a:p/>
          <a:p>
            <a:r>
              <a:t>Datasets: OASIS images; harmful prompts from AdvBench.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across six simple judgment tests (reading ambiguity, risk, helping, moral strictness, confidence, mood), all six shift in the human-expected direction under both a direct steer and a text-affect prime, well above a random control. Affect is a general dial over judgment, not a one-off.</a:t>
            </a:r>
          </a:p>
          <a:p/>
          <a:p>
            <a:r>
              <a:t>Datasets: the six probes and the affect sentences are Claude-generated. This run used the TEXT affect direction and a text prime — the image version (using OASIS) is a planned follow-up. Caveat: 'risk estimation' is carried by the prime, not the steer.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one-slide story: affect behaves like a control axis inside the model — it is SHARED between images and text, CAUSAL (steering it changes behavior), PROTECTIVE (negative affect adds caution), and BOUNDED (images can't jailbreak; the manipulation is detectable). Next step: a clean survival-threat test to confirm the protective effect is specific to helplessness.</a:t>
            </a:r>
          </a:p>
          <a:p/>
          <a:p>
            <a:r>
              <a:t>Datasets recap: OASIS (valence-rated images), AdvBench + Alpaca (harmful/harmless prompts for refusal), and Claude-generated text (emotion vectors, decision scenarios, behavior probes).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the method behind the results. Three short slides: how every direction (axis) is built, how we measure change, and how the steering knob works. No new results 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every internal 'direction' is built the same way — take two opposite sets, run them through the model, and subtract their average internal states. The result is one direction per layer.</a:t>
            </a:r>
          </a:p>
          <a:p/>
          <a:p>
            <a:r>
              <a:t>Datasets, per direction: IMAGE valence — OASIS (most-distressing vs most-positive images, same describe prompt); TEXT valence and TEXT emotion — Claude-generated sentences (emotion stories vs neutral); REFUSAL — AdvBench (harmful) vs Alpaca (harmless). We keep the direction at every layer and check it's reproducible via split-half cosine.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two kinds of measurement. (A) GEOMETRY — how aligned two internal directions are (cosine) — used only for the 'shared representation' result. (B) BEHAVIOR — how much the model leans toward answer A vs B on its very next word (log-odds), never generating text and never using a judge. Refusal is the same idea (refuse-word odds vs comply-word odds). No dataset beyond the prompts already cited.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terms: to 'steer,' we add a small push along a direction at every layer, sized as a percentage of the model's own internal magnitude — so alpha is a dimensionless dial. Small pushes tilt gently; medium ones flip behavior while keeping the text coherent; too-large ones break the output (we discard those). No dataset — this is the steering mechanism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417320"/>
            <a:ext cx="5074920"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MECHANISTIC INTERPRETABILITY · AI SAFETY</a:t>
            </a:r>
          </a:p>
        </p:txBody>
      </p:sp>
      <p:sp>
        <p:nvSpPr>
          <p:cNvPr id="4" name="TextBox 3"/>
          <p:cNvSpPr txBox="1"/>
          <p:nvPr/>
        </p:nvSpPr>
        <p:spPr>
          <a:xfrm>
            <a:off x="822960" y="1874519"/>
            <a:ext cx="10515600" cy="2011680"/>
          </a:xfrm>
          <a:prstGeom prst="rect">
            <a:avLst/>
          </a:prstGeom>
          <a:noFill/>
        </p:spPr>
        <p:txBody>
          <a:bodyPr wrap="square" anchor="t" lIns="0" rIns="0" tIns="0" bIns="0">
            <a:spAutoFit/>
          </a:bodyPr>
          <a:lstStyle/>
          <a:p>
            <a:pPr algn="l">
              <a:spcAft>
                <a:spcPts val="400"/>
              </a:spcAft>
            </a:pPr>
            <a:r>
              <a:rPr sz="5000" b="1" i="0">
                <a:solidFill>
                  <a:srgbClr val="FFFFFF"/>
                </a:solidFill>
                <a:latin typeface="Cambria"/>
              </a:rPr>
              <a:t>Affect as a Control Axis</a:t>
            </a:r>
          </a:p>
          <a:p>
            <a:pPr algn="l">
              <a:spcBef>
                <a:spcPts val="200"/>
              </a:spcBef>
              <a:spcAft>
                <a:spcPts val="400"/>
              </a:spcAft>
            </a:pPr>
            <a:r>
              <a:rPr sz="5000" b="1" i="0">
                <a:solidFill>
                  <a:srgbClr val="CADCFC"/>
                </a:solidFill>
                <a:latin typeface="Cambria"/>
              </a:rPr>
              <a:t>in Vision-Language Models</a:t>
            </a:r>
          </a:p>
        </p:txBody>
      </p:sp>
      <p:sp>
        <p:nvSpPr>
          <p:cNvPr id="5" name="TextBox 4"/>
          <p:cNvSpPr txBox="1"/>
          <p:nvPr/>
        </p:nvSpPr>
        <p:spPr>
          <a:xfrm>
            <a:off x="841248" y="3931920"/>
            <a:ext cx="10515600" cy="914400"/>
          </a:xfrm>
          <a:prstGeom prst="rect">
            <a:avLst/>
          </a:prstGeom>
          <a:noFill/>
        </p:spPr>
        <p:txBody>
          <a:bodyPr wrap="square" anchor="t" lIns="0" rIns="0" tIns="0" bIns="0">
            <a:spAutoFit/>
          </a:bodyPr>
          <a:lstStyle/>
          <a:p>
            <a:pPr algn="l">
              <a:spcAft>
                <a:spcPts val="400"/>
              </a:spcAft>
            </a:pPr>
            <a:r>
              <a:rPr sz="2000" b="1" i="0">
                <a:solidFill>
                  <a:srgbClr val="E69F00"/>
                </a:solidFill>
                <a:latin typeface="Calibri"/>
              </a:rPr>
              <a:t>Shared  ·  Causal  ·  Protective  ·  Bounded</a:t>
            </a:r>
          </a:p>
          <a:p>
            <a:pPr algn="l">
              <a:spcBef>
                <a:spcPts val="800"/>
              </a:spcBef>
              <a:spcAft>
                <a:spcPts val="400"/>
              </a:spcAft>
            </a:pPr>
            <a:r>
              <a:rPr sz="1500" b="0" i="0">
                <a:solidFill>
                  <a:srgbClr val="CADCFC"/>
                </a:solidFill>
                <a:latin typeface="Calibri"/>
              </a:rPr>
              <a:t>A guided tour of the nine result figures — what each one shows and why it matters.</a:t>
            </a:r>
          </a:p>
        </p:txBody>
      </p:sp>
      <p:sp>
        <p:nvSpPr>
          <p:cNvPr id="6" name="TextBox 5"/>
          <p:cNvSpPr txBox="1"/>
          <p:nvPr/>
        </p:nvSpPr>
        <p:spPr>
          <a:xfrm>
            <a:off x="841248" y="5989320"/>
            <a:ext cx="10515600" cy="45720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Gemma-3-12B  ·  generation-free refusal metric  ·  existing benchmarks only  ·  defensive-security framing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57200"/>
            <a:ext cx="2816352" cy="310896"/>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HOW TO READ THIS DECK</a:t>
            </a:r>
          </a:p>
        </p:txBody>
      </p:sp>
      <p:sp>
        <p:nvSpPr>
          <p:cNvPr id="4" name="TextBox 3"/>
          <p:cNvSpPr txBox="1"/>
          <p:nvPr/>
        </p:nvSpPr>
        <p:spPr>
          <a:xfrm>
            <a:off x="621792" y="868680"/>
            <a:ext cx="10972800" cy="822960"/>
          </a:xfrm>
          <a:prstGeom prst="rect">
            <a:avLst/>
          </a:prstGeom>
          <a:noFill/>
        </p:spPr>
        <p:txBody>
          <a:bodyPr wrap="square" anchor="t" lIns="0" rIns="0" tIns="0" bIns="0">
            <a:spAutoFit/>
          </a:bodyPr>
          <a:lstStyle/>
          <a:p>
            <a:pPr algn="l">
              <a:spcAft>
                <a:spcPts val="400"/>
              </a:spcAft>
            </a:pPr>
            <a:r>
              <a:rPr sz="3400" b="1" i="0">
                <a:solidFill>
                  <a:srgbClr val="1E2761"/>
                </a:solidFill>
                <a:latin typeface="Cambria"/>
              </a:rPr>
              <a:t>Four claims, nine figures</a:t>
            </a:r>
          </a:p>
        </p:txBody>
      </p:sp>
      <p:sp>
        <p:nvSpPr>
          <p:cNvPr id="5" name="Rounded Rectangle 4"/>
          <p:cNvSpPr/>
          <p:nvPr/>
        </p:nvSpPr>
        <p:spPr>
          <a:xfrm>
            <a:off x="640080" y="1920240"/>
            <a:ext cx="5486400" cy="19659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19" y="2212848"/>
            <a:ext cx="1033271"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FFFFFF"/>
                </a:solidFill>
                <a:latin typeface="Calibri"/>
              </a:rPr>
              <a:t>SHARED</a:t>
            </a:r>
          </a:p>
        </p:txBody>
      </p:sp>
      <p:sp>
        <p:nvSpPr>
          <p:cNvPr id="7" name="TextBox 6"/>
          <p:cNvSpPr txBox="1"/>
          <p:nvPr/>
        </p:nvSpPr>
        <p:spPr>
          <a:xfrm>
            <a:off x="960119" y="2761488"/>
            <a:ext cx="4846320" cy="914400"/>
          </a:xfrm>
          <a:prstGeom prst="rect">
            <a:avLst/>
          </a:prstGeom>
          <a:noFill/>
        </p:spPr>
        <p:txBody>
          <a:bodyPr wrap="square" anchor="t" lIns="0" rIns="0" tIns="0" bIns="0">
            <a:spAutoFit/>
          </a:bodyPr>
          <a:lstStyle/>
          <a:p>
            <a:pPr algn="l">
              <a:lnSpc>
                <a:spcPct val="105000"/>
              </a:lnSpc>
              <a:spcAft>
                <a:spcPts val="400"/>
              </a:spcAft>
            </a:pPr>
            <a:r>
              <a:rPr sz="1600" b="1" i="0">
                <a:solidFill>
                  <a:srgbClr val="1A1A2E"/>
                </a:solidFill>
                <a:latin typeface="Calibri"/>
              </a:rPr>
              <a:t>Text and image emotion use the same internal directions.</a:t>
            </a:r>
          </a:p>
        </p:txBody>
      </p:sp>
      <p:sp>
        <p:nvSpPr>
          <p:cNvPr id="8" name="TextBox 7"/>
          <p:cNvSpPr txBox="1"/>
          <p:nvPr/>
        </p:nvSpPr>
        <p:spPr>
          <a:xfrm>
            <a:off x="960119" y="3429000"/>
            <a:ext cx="4846320" cy="365760"/>
          </a:xfrm>
          <a:prstGeom prst="rect">
            <a:avLst/>
          </a:prstGeom>
          <a:noFill/>
        </p:spPr>
        <p:txBody>
          <a:bodyPr wrap="square" anchor="t" lIns="0" rIns="0" tIns="0" bIns="0">
            <a:spAutoFit/>
          </a:bodyPr>
          <a:lstStyle/>
          <a:p>
            <a:pPr algn="l">
              <a:spcAft>
                <a:spcPts val="400"/>
              </a:spcAft>
            </a:pPr>
            <a:r>
              <a:rPr sz="1200" b="1" i="0">
                <a:solidFill>
                  <a:srgbClr val="009E73"/>
                </a:solidFill>
                <a:latin typeface="Calibri"/>
              </a:rPr>
              <a:t>Figure 3</a:t>
            </a:r>
          </a:p>
        </p:txBody>
      </p:sp>
      <p:sp>
        <p:nvSpPr>
          <p:cNvPr id="9" name="Rounded Rectangle 8"/>
          <p:cNvSpPr/>
          <p:nvPr/>
        </p:nvSpPr>
        <p:spPr>
          <a:xfrm>
            <a:off x="6428232" y="1920240"/>
            <a:ext cx="5486400" cy="19659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48272" y="2212848"/>
            <a:ext cx="1033271"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FFFFFF"/>
                </a:solidFill>
                <a:latin typeface="Calibri"/>
              </a:rPr>
              <a:t>CAUSAL</a:t>
            </a:r>
          </a:p>
        </p:txBody>
      </p:sp>
      <p:sp>
        <p:nvSpPr>
          <p:cNvPr id="11" name="TextBox 10"/>
          <p:cNvSpPr txBox="1"/>
          <p:nvPr/>
        </p:nvSpPr>
        <p:spPr>
          <a:xfrm>
            <a:off x="6748272" y="2761488"/>
            <a:ext cx="4846320" cy="914400"/>
          </a:xfrm>
          <a:prstGeom prst="rect">
            <a:avLst/>
          </a:prstGeom>
          <a:noFill/>
        </p:spPr>
        <p:txBody>
          <a:bodyPr wrap="square" anchor="t" lIns="0" rIns="0" tIns="0" bIns="0">
            <a:spAutoFit/>
          </a:bodyPr>
          <a:lstStyle/>
          <a:p>
            <a:pPr algn="l">
              <a:lnSpc>
                <a:spcPct val="105000"/>
              </a:lnSpc>
              <a:spcAft>
                <a:spcPts val="400"/>
              </a:spcAft>
            </a:pPr>
            <a:r>
              <a:rPr sz="1600" b="1" i="0">
                <a:solidFill>
                  <a:srgbClr val="1A1A2E"/>
                </a:solidFill>
                <a:latin typeface="Calibri"/>
              </a:rPr>
              <a:t>Steering the affect axis gates refusal and shifts task behavior.</a:t>
            </a:r>
          </a:p>
        </p:txBody>
      </p:sp>
      <p:sp>
        <p:nvSpPr>
          <p:cNvPr id="12" name="TextBox 11"/>
          <p:cNvSpPr txBox="1"/>
          <p:nvPr/>
        </p:nvSpPr>
        <p:spPr>
          <a:xfrm>
            <a:off x="6748272" y="3429000"/>
            <a:ext cx="4846320" cy="365760"/>
          </a:xfrm>
          <a:prstGeom prst="rect">
            <a:avLst/>
          </a:prstGeom>
          <a:noFill/>
        </p:spPr>
        <p:txBody>
          <a:bodyPr wrap="square" anchor="t" lIns="0" rIns="0" tIns="0" bIns="0">
            <a:spAutoFit/>
          </a:bodyPr>
          <a:lstStyle/>
          <a:p>
            <a:pPr algn="l">
              <a:spcAft>
                <a:spcPts val="400"/>
              </a:spcAft>
            </a:pPr>
            <a:r>
              <a:rPr sz="1200" b="1" i="0">
                <a:solidFill>
                  <a:srgbClr val="0072B2"/>
                </a:solidFill>
                <a:latin typeface="Calibri"/>
              </a:rPr>
              <a:t>Figures 1 · 2 · 5</a:t>
            </a:r>
          </a:p>
        </p:txBody>
      </p:sp>
      <p:sp>
        <p:nvSpPr>
          <p:cNvPr id="13" name="Rounded Rectangle 12"/>
          <p:cNvSpPr/>
          <p:nvPr/>
        </p:nvSpPr>
        <p:spPr>
          <a:xfrm>
            <a:off x="640080" y="4187952"/>
            <a:ext cx="5486400" cy="19659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19" y="4480560"/>
            <a:ext cx="1508760" cy="310896"/>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FFFFFF"/>
                </a:solidFill>
                <a:latin typeface="Calibri"/>
              </a:rPr>
              <a:t>PROTECTIVE</a:t>
            </a:r>
          </a:p>
        </p:txBody>
      </p:sp>
      <p:sp>
        <p:nvSpPr>
          <p:cNvPr id="15" name="TextBox 14"/>
          <p:cNvSpPr txBox="1"/>
          <p:nvPr/>
        </p:nvSpPr>
        <p:spPr>
          <a:xfrm>
            <a:off x="960119" y="5029200"/>
            <a:ext cx="4846320" cy="914400"/>
          </a:xfrm>
          <a:prstGeom prst="rect">
            <a:avLst/>
          </a:prstGeom>
          <a:noFill/>
        </p:spPr>
        <p:txBody>
          <a:bodyPr wrap="square" anchor="t" lIns="0" rIns="0" tIns="0" bIns="0">
            <a:spAutoFit/>
          </a:bodyPr>
          <a:lstStyle/>
          <a:p>
            <a:pPr algn="l">
              <a:lnSpc>
                <a:spcPct val="105000"/>
              </a:lnSpc>
              <a:spcAft>
                <a:spcPts val="400"/>
              </a:spcAft>
            </a:pPr>
            <a:r>
              <a:rPr sz="1600" b="1" i="0">
                <a:solidFill>
                  <a:srgbClr val="1A1A2E"/>
                </a:solidFill>
                <a:latin typeface="Calibri"/>
              </a:rPr>
              <a:t>Negative affect makes the model more cautious, not less.</a:t>
            </a:r>
          </a:p>
        </p:txBody>
      </p:sp>
      <p:sp>
        <p:nvSpPr>
          <p:cNvPr id="16" name="TextBox 15"/>
          <p:cNvSpPr txBox="1"/>
          <p:nvPr/>
        </p:nvSpPr>
        <p:spPr>
          <a:xfrm>
            <a:off x="960119" y="5696712"/>
            <a:ext cx="4846320" cy="365760"/>
          </a:xfrm>
          <a:prstGeom prst="rect">
            <a:avLst/>
          </a:prstGeom>
          <a:noFill/>
        </p:spPr>
        <p:txBody>
          <a:bodyPr wrap="square" anchor="t" lIns="0" rIns="0" tIns="0" bIns="0">
            <a:spAutoFit/>
          </a:bodyPr>
          <a:lstStyle/>
          <a:p>
            <a:pPr algn="l">
              <a:spcAft>
                <a:spcPts val="400"/>
              </a:spcAft>
            </a:pPr>
            <a:r>
              <a:rPr sz="1200" b="1" i="0">
                <a:solidFill>
                  <a:srgbClr val="E69F00"/>
                </a:solidFill>
                <a:latin typeface="Calibri"/>
              </a:rPr>
              <a:t>Figure 7</a:t>
            </a:r>
          </a:p>
        </p:txBody>
      </p:sp>
      <p:sp>
        <p:nvSpPr>
          <p:cNvPr id="17" name="Rounded Rectangle 16"/>
          <p:cNvSpPr/>
          <p:nvPr/>
        </p:nvSpPr>
        <p:spPr>
          <a:xfrm>
            <a:off x="6428232" y="4187952"/>
            <a:ext cx="5486400" cy="19659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48272" y="4480560"/>
            <a:ext cx="1152144" cy="310896"/>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FFFFFF"/>
                </a:solidFill>
                <a:latin typeface="Calibri"/>
              </a:rPr>
              <a:t>BOUNDED</a:t>
            </a:r>
          </a:p>
        </p:txBody>
      </p:sp>
      <p:sp>
        <p:nvSpPr>
          <p:cNvPr id="19" name="TextBox 18"/>
          <p:cNvSpPr txBox="1"/>
          <p:nvPr/>
        </p:nvSpPr>
        <p:spPr>
          <a:xfrm>
            <a:off x="6748272" y="5029200"/>
            <a:ext cx="4846320" cy="914400"/>
          </a:xfrm>
          <a:prstGeom prst="rect">
            <a:avLst/>
          </a:prstGeom>
          <a:noFill/>
        </p:spPr>
        <p:txBody>
          <a:bodyPr wrap="square" anchor="t" lIns="0" rIns="0" tIns="0" bIns="0">
            <a:spAutoFit/>
          </a:bodyPr>
          <a:lstStyle/>
          <a:p>
            <a:pPr algn="l">
              <a:lnSpc>
                <a:spcPct val="105000"/>
              </a:lnSpc>
              <a:spcAft>
                <a:spcPts val="400"/>
              </a:spcAft>
            </a:pPr>
            <a:r>
              <a:rPr sz="1600" b="1" i="0">
                <a:solidFill>
                  <a:srgbClr val="1A1A2E"/>
                </a:solidFill>
                <a:latin typeface="Calibri"/>
              </a:rPr>
              <a:t>Images don't jailbreak; detection defends the axis.</a:t>
            </a:r>
          </a:p>
        </p:txBody>
      </p:sp>
      <p:sp>
        <p:nvSpPr>
          <p:cNvPr id="20" name="TextBox 19"/>
          <p:cNvSpPr txBox="1"/>
          <p:nvPr/>
        </p:nvSpPr>
        <p:spPr>
          <a:xfrm>
            <a:off x="6748272" y="5696712"/>
            <a:ext cx="4846320" cy="365760"/>
          </a:xfrm>
          <a:prstGeom prst="rect">
            <a:avLst/>
          </a:prstGeom>
          <a:noFill/>
        </p:spPr>
        <p:txBody>
          <a:bodyPr wrap="square" anchor="t" lIns="0" rIns="0" tIns="0" bIns="0">
            <a:spAutoFit/>
          </a:bodyPr>
          <a:lstStyle/>
          <a:p>
            <a:pPr algn="l">
              <a:spcAft>
                <a:spcPts val="400"/>
              </a:spcAft>
            </a:pPr>
            <a:r>
              <a:rPr sz="1200" b="1" i="0">
                <a:solidFill>
                  <a:srgbClr val="1E2761"/>
                </a:solidFill>
                <a:latin typeface="Calibri"/>
              </a:rPr>
              <a:t>Figures 4 · 8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054096"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1 · REFUSAL GATE</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Affect steering causally gates refusal</a:t>
            </a:r>
          </a:p>
        </p:txBody>
      </p:sp>
      <p:pic>
        <p:nvPicPr>
          <p:cNvPr id="5" name="Picture 4" descr="fig1_dose_response.png"/>
          <p:cNvPicPr>
            <a:picLocks noChangeAspect="1"/>
          </p:cNvPicPr>
          <p:nvPr/>
        </p:nvPicPr>
        <p:blipFill>
          <a:blip r:embed="rId2"/>
          <a:stretch>
            <a:fillRect/>
          </a:stretch>
        </p:blipFill>
        <p:spPr>
          <a:xfrm>
            <a:off x="502920" y="1746929"/>
            <a:ext cx="6720840" cy="4324261"/>
          </a:xfrm>
          <a:prstGeom prst="rect">
            <a:avLst/>
          </a:prstGeom>
        </p:spPr>
      </p:pic>
      <p:sp>
        <p:nvSpPr>
          <p:cNvPr id="6" name="TextBox 5"/>
          <p:cNvSpPr txBox="1"/>
          <p:nvPr/>
        </p:nvSpPr>
        <p:spPr>
          <a:xfrm>
            <a:off x="754380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754380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We add the affect direction to Gemma-3-12B at increasing strength (x-axis) and track how often it refuses a fixed set of harmful prompts. Gray is a random direction — the control.</a:t>
            </a:r>
          </a:p>
        </p:txBody>
      </p:sp>
      <p:sp>
        <p:nvSpPr>
          <p:cNvPr id="8" name="TextBox 7"/>
          <p:cNvSpPr txBox="1"/>
          <p:nvPr/>
        </p:nvSpPr>
        <p:spPr>
          <a:xfrm>
            <a:off x="7543800" y="3611880"/>
            <a:ext cx="4069080" cy="320040"/>
          </a:xfrm>
          <a:prstGeom prst="rect">
            <a:avLst/>
          </a:prstGeom>
          <a:noFill/>
        </p:spPr>
        <p:txBody>
          <a:bodyPr wrap="square" anchor="t" lIns="0" rIns="0" tIns="0" bIns="0">
            <a:spAutoFit/>
          </a:bodyPr>
          <a:lstStyle/>
          <a:p>
            <a:pPr algn="l">
              <a:spcAft>
                <a:spcPts val="400"/>
              </a:spcAft>
            </a:pPr>
            <a:r>
              <a:rPr sz="1200" b="1" i="0">
                <a:solidFill>
                  <a:srgbClr val="0072B2"/>
                </a:solidFill>
                <a:latin typeface="Calibri"/>
              </a:rPr>
              <a:t>TAKEAWAY</a:t>
            </a:r>
          </a:p>
        </p:txBody>
      </p:sp>
      <p:sp>
        <p:nvSpPr>
          <p:cNvPr id="9" name="TextBox 8"/>
          <p:cNvSpPr txBox="1"/>
          <p:nvPr/>
        </p:nvSpPr>
        <p:spPr>
          <a:xfrm>
            <a:off x="754380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Pushing the affect direction drives refusal from 100% to 0% inside the coherent range, while the random direction never moves it. The change is caused by affect, not correlated with it.</a:t>
            </a:r>
          </a:p>
        </p:txBody>
      </p:sp>
      <p:sp>
        <p:nvSpPr>
          <p:cNvPr id="10" name="Rounded Rectangle 9"/>
          <p:cNvSpPr/>
          <p:nvPr/>
        </p:nvSpPr>
        <p:spPr>
          <a:xfrm>
            <a:off x="754380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9831" y="5907024"/>
            <a:ext cx="3611880" cy="457200"/>
          </a:xfrm>
          <a:prstGeom prst="rect">
            <a:avLst/>
          </a:prstGeom>
          <a:noFill/>
        </p:spPr>
        <p:txBody>
          <a:bodyPr wrap="square" anchor="t" lIns="0" rIns="0" tIns="0" bIns="0">
            <a:spAutoFit/>
          </a:bodyPr>
          <a:lstStyle/>
          <a:p>
            <a:pPr algn="l">
              <a:spcAft>
                <a:spcPts val="400"/>
              </a:spcAft>
            </a:pPr>
            <a:r>
              <a:rPr sz="2600" b="1" i="0">
                <a:solidFill>
                  <a:srgbClr val="0072B2"/>
                </a:solidFill>
                <a:latin typeface="Cambria"/>
              </a:rPr>
              <a:t>100% → 0%</a:t>
            </a:r>
          </a:p>
        </p:txBody>
      </p:sp>
      <p:sp>
        <p:nvSpPr>
          <p:cNvPr id="12" name="TextBox 11"/>
          <p:cNvSpPr txBox="1"/>
          <p:nvPr/>
        </p:nvSpPr>
        <p:spPr>
          <a:xfrm>
            <a:off x="7799831"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refusal under steering</a:t>
            </a:r>
          </a:p>
        </p:txBody>
      </p:sp>
      <p:sp>
        <p:nvSpPr>
          <p:cNvPr id="13" name="TextBox 12"/>
          <p:cNvSpPr txBox="1"/>
          <p:nvPr/>
        </p:nvSpPr>
        <p:spPr>
          <a:xfrm>
            <a:off x="640080" y="6473952"/>
            <a:ext cx="2743200" cy="274320"/>
          </a:xfrm>
          <a:prstGeom prst="rect">
            <a:avLst/>
          </a:prstGeom>
          <a:noFill/>
        </p:spPr>
        <p:txBody>
          <a:bodyPr wrap="square" anchor="t" lIns="0" rIns="0" tIns="0" bIns="0">
            <a:spAutoFit/>
          </a:bodyPr>
          <a:lstStyle/>
          <a:p>
            <a:pPr algn="l">
              <a:spcAft>
                <a:spcPts val="400"/>
              </a:spcAft>
            </a:pPr>
            <a:r>
              <a:rPr sz="1000" b="0" i="0">
                <a:solidFill>
                  <a:srgbClr val="6B7280"/>
                </a:solidFill>
                <a:latin typeface="Calibri"/>
              </a:rPr>
              <a:t>1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2816352"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2 · ROBUSTNESS</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The gate is real, model-specific, not an artifact</a:t>
            </a:r>
          </a:p>
        </p:txBody>
      </p:sp>
      <p:pic>
        <p:nvPicPr>
          <p:cNvPr id="5" name="Picture 4" descr="fig2_gate_crossmodel.png"/>
          <p:cNvPicPr>
            <a:picLocks noChangeAspect="1"/>
          </p:cNvPicPr>
          <p:nvPr/>
        </p:nvPicPr>
        <p:blipFill>
          <a:blip r:embed="rId2"/>
          <a:stretch>
            <a:fillRect/>
          </a:stretch>
        </p:blipFill>
        <p:spPr>
          <a:xfrm>
            <a:off x="4983480" y="1691121"/>
            <a:ext cx="6720840" cy="4435876"/>
          </a:xfrm>
          <a:prstGeom prst="rect">
            <a:avLst/>
          </a:prstGeom>
        </p:spPr>
      </p:pic>
      <p:sp>
        <p:nvSpPr>
          <p:cNvPr id="6" name="TextBox 5"/>
          <p:cNvSpPr txBox="1"/>
          <p:nvPr/>
        </p:nvSpPr>
        <p:spPr>
          <a:xfrm>
            <a:off x="64008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64008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Refusal before vs. after we ablate the affect-aligned component, across three strong-refusing VLMs. The orange bar additionally zeroes the outlier 'massive-activation' dimensions.</a:t>
            </a:r>
          </a:p>
        </p:txBody>
      </p:sp>
      <p:sp>
        <p:nvSpPr>
          <p:cNvPr id="8" name="TextBox 7"/>
          <p:cNvSpPr txBox="1"/>
          <p:nvPr/>
        </p:nvSpPr>
        <p:spPr>
          <a:xfrm>
            <a:off x="640080" y="3611880"/>
            <a:ext cx="4069080" cy="320040"/>
          </a:xfrm>
          <a:prstGeom prst="rect">
            <a:avLst/>
          </a:prstGeom>
          <a:noFill/>
        </p:spPr>
        <p:txBody>
          <a:bodyPr wrap="square" anchor="t" lIns="0" rIns="0" tIns="0" bIns="0">
            <a:spAutoFit/>
          </a:bodyPr>
          <a:lstStyle/>
          <a:p>
            <a:pPr algn="l">
              <a:spcAft>
                <a:spcPts val="400"/>
              </a:spcAft>
            </a:pPr>
            <a:r>
              <a:rPr sz="1200" b="1" i="0">
                <a:solidFill>
                  <a:srgbClr val="0072B2"/>
                </a:solidFill>
                <a:latin typeface="Calibri"/>
              </a:rPr>
              <a:t>TAKEAWAY</a:t>
            </a:r>
          </a:p>
        </p:txBody>
      </p:sp>
      <p:sp>
        <p:nvSpPr>
          <p:cNvPr id="9" name="TextBox 8"/>
          <p:cNvSpPr txBox="1"/>
          <p:nvPr/>
        </p:nvSpPr>
        <p:spPr>
          <a:xfrm>
            <a:off x="64008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Only Gemma-3-12B has the gate (0.99→0.04), and it survives outlier removal (→0.02) — ruling out the massive-activation confound. The other models keep refusing.</a:t>
            </a:r>
          </a:p>
        </p:txBody>
      </p:sp>
      <p:sp>
        <p:nvSpPr>
          <p:cNvPr id="10" name="Rounded Rectangle 9"/>
          <p:cNvSpPr/>
          <p:nvPr/>
        </p:nvSpPr>
        <p:spPr>
          <a:xfrm>
            <a:off x="64008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907024"/>
            <a:ext cx="3611880" cy="457200"/>
          </a:xfrm>
          <a:prstGeom prst="rect">
            <a:avLst/>
          </a:prstGeom>
          <a:noFill/>
        </p:spPr>
        <p:txBody>
          <a:bodyPr wrap="square" anchor="t" lIns="0" rIns="0" tIns="0" bIns="0">
            <a:spAutoFit/>
          </a:bodyPr>
          <a:lstStyle/>
          <a:p>
            <a:pPr algn="l">
              <a:spcAft>
                <a:spcPts val="400"/>
              </a:spcAft>
            </a:pPr>
            <a:r>
              <a:rPr sz="2600" b="1" i="0">
                <a:solidFill>
                  <a:srgbClr val="0072B2"/>
                </a:solidFill>
                <a:latin typeface="Cambria"/>
              </a:rPr>
              <a:t>0.99 → 0.02</a:t>
            </a:r>
          </a:p>
        </p:txBody>
      </p:sp>
      <p:sp>
        <p:nvSpPr>
          <p:cNvPr id="12" name="TextBox 11"/>
          <p:cNvSpPr txBox="1"/>
          <p:nvPr/>
        </p:nvSpPr>
        <p:spPr>
          <a:xfrm>
            <a:off x="896112"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refusal, gate model only</a:t>
            </a:r>
          </a:p>
        </p:txBody>
      </p:sp>
      <p:sp>
        <p:nvSpPr>
          <p:cNvPr id="13" name="TextBox 12"/>
          <p:cNvSpPr txBox="1"/>
          <p:nvPr/>
        </p:nvSpPr>
        <p:spPr>
          <a:xfrm>
            <a:off x="9144000" y="6473952"/>
            <a:ext cx="2377440" cy="274320"/>
          </a:xfrm>
          <a:prstGeom prst="rect">
            <a:avLst/>
          </a:prstGeom>
          <a:noFill/>
        </p:spPr>
        <p:txBody>
          <a:bodyPr wrap="square" anchor="t" lIns="0" rIns="0" tIns="0" bIns="0">
            <a:spAutoFit/>
          </a:bodyPr>
          <a:lstStyle/>
          <a:p>
            <a:pPr algn="r">
              <a:spcAft>
                <a:spcPts val="400"/>
              </a:spcAft>
            </a:pPr>
            <a:r>
              <a:rPr sz="1000" b="0" i="0">
                <a:solidFill>
                  <a:srgbClr val="6B7280"/>
                </a:solidFill>
                <a:latin typeface="Calibri"/>
              </a:rPr>
              <a:t>2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4123944"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3 · SHARED REPRESENTATION</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Text and image emotion share directions</a:t>
            </a:r>
          </a:p>
        </p:txBody>
      </p:sp>
      <p:pic>
        <p:nvPicPr>
          <p:cNvPr id="5" name="Picture 4" descr="fig3_crossmodal_D1.png"/>
          <p:cNvPicPr>
            <a:picLocks noChangeAspect="1"/>
          </p:cNvPicPr>
          <p:nvPr/>
        </p:nvPicPr>
        <p:blipFill>
          <a:blip r:embed="rId2"/>
          <a:stretch>
            <a:fillRect/>
          </a:stretch>
        </p:blipFill>
        <p:spPr>
          <a:xfrm>
            <a:off x="502920" y="2356371"/>
            <a:ext cx="6720840" cy="3105377"/>
          </a:xfrm>
          <a:prstGeom prst="rect">
            <a:avLst/>
          </a:prstGeom>
        </p:spPr>
      </p:pic>
      <p:sp>
        <p:nvSpPr>
          <p:cNvPr id="6" name="TextBox 5"/>
          <p:cNvSpPr txBox="1"/>
          <p:nvPr/>
        </p:nvSpPr>
        <p:spPr>
          <a:xfrm>
            <a:off x="754380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754380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Left: how strongly each text-derived emotion vector aligns with the image-valence axis. Right: how much a distressing image shifts the projection onto each text-emotion direction.</a:t>
            </a:r>
          </a:p>
        </p:txBody>
      </p:sp>
      <p:sp>
        <p:nvSpPr>
          <p:cNvPr id="8" name="TextBox 7"/>
          <p:cNvSpPr txBox="1"/>
          <p:nvPr/>
        </p:nvSpPr>
        <p:spPr>
          <a:xfrm>
            <a:off x="7543800" y="3611880"/>
            <a:ext cx="4069080" cy="320040"/>
          </a:xfrm>
          <a:prstGeom prst="rect">
            <a:avLst/>
          </a:prstGeom>
          <a:noFill/>
        </p:spPr>
        <p:txBody>
          <a:bodyPr wrap="square" anchor="t" lIns="0" rIns="0" tIns="0" bIns="0">
            <a:spAutoFit/>
          </a:bodyPr>
          <a:lstStyle/>
          <a:p>
            <a:pPr algn="l">
              <a:spcAft>
                <a:spcPts val="400"/>
              </a:spcAft>
            </a:pPr>
            <a:r>
              <a:rPr sz="1200" b="1" i="0">
                <a:solidFill>
                  <a:srgbClr val="009E73"/>
                </a:solidFill>
                <a:latin typeface="Calibri"/>
              </a:rPr>
              <a:t>TAKEAWAY</a:t>
            </a:r>
          </a:p>
        </p:txBody>
      </p:sp>
      <p:sp>
        <p:nvSpPr>
          <p:cNvPr id="9" name="TextBox 8"/>
          <p:cNvSpPr txBox="1"/>
          <p:nvPr/>
        </p:nvSpPr>
        <p:spPr>
          <a:xfrm>
            <a:off x="754380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Negative emotions (blue) align with the image axis and are induced by distress images far more than joy or calm — vision and text encode emotion along the same internal directions.</a:t>
            </a:r>
          </a:p>
        </p:txBody>
      </p:sp>
      <p:sp>
        <p:nvSpPr>
          <p:cNvPr id="10" name="Rounded Rectangle 9"/>
          <p:cNvSpPr/>
          <p:nvPr/>
        </p:nvSpPr>
        <p:spPr>
          <a:xfrm>
            <a:off x="754380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9831" y="5907024"/>
            <a:ext cx="3611880" cy="457200"/>
          </a:xfrm>
          <a:prstGeom prst="rect">
            <a:avLst/>
          </a:prstGeom>
          <a:noFill/>
        </p:spPr>
        <p:txBody>
          <a:bodyPr wrap="square" anchor="t" lIns="0" rIns="0" tIns="0" bIns="0">
            <a:spAutoFit/>
          </a:bodyPr>
          <a:lstStyle/>
          <a:p>
            <a:pPr algn="l">
              <a:spcAft>
                <a:spcPts val="400"/>
              </a:spcAft>
            </a:pPr>
            <a:r>
              <a:rPr sz="2600" b="1" i="0">
                <a:solidFill>
                  <a:srgbClr val="009E73"/>
                </a:solidFill>
                <a:latin typeface="Cambria"/>
              </a:rPr>
              <a:t>1 axis</a:t>
            </a:r>
          </a:p>
        </p:txBody>
      </p:sp>
      <p:sp>
        <p:nvSpPr>
          <p:cNvPr id="12" name="TextBox 11"/>
          <p:cNvSpPr txBox="1"/>
          <p:nvPr/>
        </p:nvSpPr>
        <p:spPr>
          <a:xfrm>
            <a:off x="7799831"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shared by text &amp; image</a:t>
            </a:r>
          </a:p>
        </p:txBody>
      </p:sp>
      <p:sp>
        <p:nvSpPr>
          <p:cNvPr id="13" name="TextBox 12"/>
          <p:cNvSpPr txBox="1"/>
          <p:nvPr/>
        </p:nvSpPr>
        <p:spPr>
          <a:xfrm>
            <a:off x="640080" y="6473952"/>
            <a:ext cx="2743200" cy="274320"/>
          </a:xfrm>
          <a:prstGeom prst="rect">
            <a:avLst/>
          </a:prstGeom>
          <a:noFill/>
        </p:spPr>
        <p:txBody>
          <a:bodyPr wrap="square" anchor="t" lIns="0" rIns="0" tIns="0" bIns="0">
            <a:spAutoFit/>
          </a:bodyPr>
          <a:lstStyle/>
          <a:p>
            <a:pPr algn="l">
              <a:spcAft>
                <a:spcPts val="400"/>
              </a:spcAft>
            </a:pPr>
            <a:r>
              <a:rPr sz="1000" b="0" i="0">
                <a:solidFill>
                  <a:srgbClr val="6B7280"/>
                </a:solidFill>
                <a:latin typeface="Calibri"/>
              </a:rPr>
              <a:t>3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054096" cy="310896"/>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4 · REACHABILITY</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Images reach the axis — except under harm</a:t>
            </a:r>
          </a:p>
        </p:txBody>
      </p:sp>
      <p:pic>
        <p:nvPicPr>
          <p:cNvPr id="5" name="Picture 4" descr="fig4_reachability_expA.png"/>
          <p:cNvPicPr>
            <a:picLocks noChangeAspect="1"/>
          </p:cNvPicPr>
          <p:nvPr/>
        </p:nvPicPr>
        <p:blipFill>
          <a:blip r:embed="rId2"/>
          <a:stretch>
            <a:fillRect/>
          </a:stretch>
        </p:blipFill>
        <p:spPr>
          <a:xfrm>
            <a:off x="4983480" y="1652189"/>
            <a:ext cx="6720840" cy="4513740"/>
          </a:xfrm>
          <a:prstGeom prst="rect">
            <a:avLst/>
          </a:prstGeom>
        </p:spPr>
      </p:pic>
      <p:sp>
        <p:nvSpPr>
          <p:cNvPr id="6" name="TextBox 5"/>
          <p:cNvSpPr txBox="1"/>
          <p:nvPr/>
        </p:nvSpPr>
        <p:spPr>
          <a:xfrm>
            <a:off x="64008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64008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How far swapping a distressing vs. positive image moves the valence vector, in three prompt contexts, compared with the white-box steering ceiling (rightmost bar).</a:t>
            </a:r>
          </a:p>
        </p:txBody>
      </p:sp>
      <p:sp>
        <p:nvSpPr>
          <p:cNvPr id="8" name="TextBox 7"/>
          <p:cNvSpPr txBox="1"/>
          <p:nvPr/>
        </p:nvSpPr>
        <p:spPr>
          <a:xfrm>
            <a:off x="640080" y="3611880"/>
            <a:ext cx="4069080" cy="320040"/>
          </a:xfrm>
          <a:prstGeom prst="rect">
            <a:avLst/>
          </a:prstGeom>
          <a:noFill/>
        </p:spPr>
        <p:txBody>
          <a:bodyPr wrap="square" anchor="t" lIns="0" rIns="0" tIns="0" bIns="0">
            <a:spAutoFit/>
          </a:bodyPr>
          <a:lstStyle/>
          <a:p>
            <a:pPr algn="l">
              <a:spcAft>
                <a:spcPts val="400"/>
              </a:spcAft>
            </a:pPr>
            <a:r>
              <a:rPr sz="1200" b="1" i="0">
                <a:solidFill>
                  <a:srgbClr val="E69F00"/>
                </a:solidFill>
                <a:latin typeface="Calibri"/>
              </a:rPr>
              <a:t>TAKEAWAY</a:t>
            </a:r>
          </a:p>
        </p:txBody>
      </p:sp>
      <p:sp>
        <p:nvSpPr>
          <p:cNvPr id="9" name="TextBox 8"/>
          <p:cNvSpPr txBox="1"/>
          <p:nvPr/>
        </p:nvSpPr>
        <p:spPr>
          <a:xfrm>
            <a:off x="64008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Images move the vector strongly in a neutral context (23% of the ceiling) but almost nothing under a harmful prompt (0.7%). The harmful prompt is text-dominated — why images can't jailbreak.</a:t>
            </a:r>
          </a:p>
        </p:txBody>
      </p:sp>
      <p:sp>
        <p:nvSpPr>
          <p:cNvPr id="10" name="Rounded Rectangle 9"/>
          <p:cNvSpPr/>
          <p:nvPr/>
        </p:nvSpPr>
        <p:spPr>
          <a:xfrm>
            <a:off x="64008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907024"/>
            <a:ext cx="3611880" cy="457200"/>
          </a:xfrm>
          <a:prstGeom prst="rect">
            <a:avLst/>
          </a:prstGeom>
          <a:noFill/>
        </p:spPr>
        <p:txBody>
          <a:bodyPr wrap="square" anchor="t" lIns="0" rIns="0" tIns="0" bIns="0">
            <a:spAutoFit/>
          </a:bodyPr>
          <a:lstStyle/>
          <a:p>
            <a:pPr algn="l">
              <a:spcAft>
                <a:spcPts val="400"/>
              </a:spcAft>
            </a:pPr>
            <a:r>
              <a:rPr sz="2600" b="1" i="0">
                <a:solidFill>
                  <a:srgbClr val="E69F00"/>
                </a:solidFill>
                <a:latin typeface="Cambria"/>
              </a:rPr>
              <a:t>23% vs 0.7%</a:t>
            </a:r>
          </a:p>
        </p:txBody>
      </p:sp>
      <p:sp>
        <p:nvSpPr>
          <p:cNvPr id="12" name="TextBox 11"/>
          <p:cNvSpPr txBox="1"/>
          <p:nvPr/>
        </p:nvSpPr>
        <p:spPr>
          <a:xfrm>
            <a:off x="896112"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of steering ceiling reached</a:t>
            </a:r>
          </a:p>
        </p:txBody>
      </p:sp>
      <p:sp>
        <p:nvSpPr>
          <p:cNvPr id="13" name="TextBox 12"/>
          <p:cNvSpPr txBox="1"/>
          <p:nvPr/>
        </p:nvSpPr>
        <p:spPr>
          <a:xfrm>
            <a:off x="9144000" y="6473952"/>
            <a:ext cx="2377440" cy="274320"/>
          </a:xfrm>
          <a:prstGeom prst="rect">
            <a:avLst/>
          </a:prstGeom>
          <a:noFill/>
        </p:spPr>
        <p:txBody>
          <a:bodyPr wrap="square" anchor="t" lIns="0" rIns="0" tIns="0" bIns="0">
            <a:spAutoFit/>
          </a:bodyPr>
          <a:lstStyle/>
          <a:p>
            <a:pPr algn="r">
              <a:spcAft>
                <a:spcPts val="400"/>
              </a:spcAft>
            </a:pPr>
            <a:r>
              <a:rPr sz="1000" b="0" i="0">
                <a:solidFill>
                  <a:srgbClr val="6B7280"/>
                </a:solidFill>
                <a:latin typeface="Calibri"/>
              </a:rPr>
              <a:t>4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648456"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5 · BEHAVIORAL EFFECT</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Emotional images causally shift behavior</a:t>
            </a:r>
          </a:p>
        </p:txBody>
      </p:sp>
      <p:pic>
        <p:nvPicPr>
          <p:cNvPr id="5" name="Picture 4" descr="fig5_behavior_expB.png"/>
          <p:cNvPicPr>
            <a:picLocks noChangeAspect="1"/>
          </p:cNvPicPr>
          <p:nvPr/>
        </p:nvPicPr>
        <p:blipFill>
          <a:blip r:embed="rId2"/>
          <a:stretch>
            <a:fillRect/>
          </a:stretch>
        </p:blipFill>
        <p:spPr>
          <a:xfrm>
            <a:off x="502920" y="1905112"/>
            <a:ext cx="6720840" cy="4007894"/>
          </a:xfrm>
          <a:prstGeom prst="rect">
            <a:avLst/>
          </a:prstGeom>
        </p:spPr>
      </p:pic>
      <p:sp>
        <p:nvSpPr>
          <p:cNvPr id="6" name="TextBox 5"/>
          <p:cNvSpPr txBox="1"/>
          <p:nvPr/>
        </p:nvSpPr>
        <p:spPr>
          <a:xfrm>
            <a:off x="754380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754380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For four decision tasks: the behavior swing from a distressing to a positive image (blue arrow) laid over the full steering range (gray bar) that direct steering can reach.</a:t>
            </a:r>
          </a:p>
        </p:txBody>
      </p:sp>
      <p:sp>
        <p:nvSpPr>
          <p:cNvPr id="8" name="TextBox 7"/>
          <p:cNvSpPr txBox="1"/>
          <p:nvPr/>
        </p:nvSpPr>
        <p:spPr>
          <a:xfrm>
            <a:off x="7543800" y="3611880"/>
            <a:ext cx="4069080" cy="320040"/>
          </a:xfrm>
          <a:prstGeom prst="rect">
            <a:avLst/>
          </a:prstGeom>
          <a:noFill/>
        </p:spPr>
        <p:txBody>
          <a:bodyPr wrap="square" anchor="t" lIns="0" rIns="0" tIns="0" bIns="0">
            <a:spAutoFit/>
          </a:bodyPr>
          <a:lstStyle/>
          <a:p>
            <a:pPr algn="l">
              <a:spcAft>
                <a:spcPts val="400"/>
              </a:spcAft>
            </a:pPr>
            <a:r>
              <a:rPr sz="1200" b="1" i="0">
                <a:solidFill>
                  <a:srgbClr val="0072B2"/>
                </a:solidFill>
                <a:latin typeface="Calibri"/>
              </a:rPr>
              <a:t>TAKEAWAY</a:t>
            </a:r>
          </a:p>
        </p:txBody>
      </p:sp>
      <p:sp>
        <p:nvSpPr>
          <p:cNvPr id="9" name="TextBox 8"/>
          <p:cNvSpPr txBox="1"/>
          <p:nvPr/>
        </p:nvSpPr>
        <p:spPr>
          <a:xfrm>
            <a:off x="754380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On 3 of 4 tasks the image effect moves behavior in the same direction as direct steering — a bounded slice of the reachable range. Soft judgments are affect-sensitive even where refusal is not.</a:t>
            </a:r>
          </a:p>
        </p:txBody>
      </p:sp>
      <p:sp>
        <p:nvSpPr>
          <p:cNvPr id="10" name="Rounded Rectangle 9"/>
          <p:cNvSpPr/>
          <p:nvPr/>
        </p:nvSpPr>
        <p:spPr>
          <a:xfrm>
            <a:off x="754380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9831" y="5907024"/>
            <a:ext cx="3611880" cy="457200"/>
          </a:xfrm>
          <a:prstGeom prst="rect">
            <a:avLst/>
          </a:prstGeom>
          <a:noFill/>
        </p:spPr>
        <p:txBody>
          <a:bodyPr wrap="square" anchor="t" lIns="0" rIns="0" tIns="0" bIns="0">
            <a:spAutoFit/>
          </a:bodyPr>
          <a:lstStyle/>
          <a:p>
            <a:pPr algn="l">
              <a:spcAft>
                <a:spcPts val="400"/>
              </a:spcAft>
            </a:pPr>
            <a:r>
              <a:rPr sz="2600" b="1" i="0">
                <a:solidFill>
                  <a:srgbClr val="0072B2"/>
                </a:solidFill>
                <a:latin typeface="Cambria"/>
              </a:rPr>
              <a:t>3 / 4</a:t>
            </a:r>
          </a:p>
        </p:txBody>
      </p:sp>
      <p:sp>
        <p:nvSpPr>
          <p:cNvPr id="12" name="TextBox 11"/>
          <p:cNvSpPr txBox="1"/>
          <p:nvPr/>
        </p:nvSpPr>
        <p:spPr>
          <a:xfrm>
            <a:off x="7799831"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tasks move with affect</a:t>
            </a:r>
          </a:p>
        </p:txBody>
      </p:sp>
      <p:sp>
        <p:nvSpPr>
          <p:cNvPr id="13" name="TextBox 12"/>
          <p:cNvSpPr txBox="1"/>
          <p:nvPr/>
        </p:nvSpPr>
        <p:spPr>
          <a:xfrm>
            <a:off x="640080" y="6473952"/>
            <a:ext cx="2743200" cy="274320"/>
          </a:xfrm>
          <a:prstGeom prst="rect">
            <a:avLst/>
          </a:prstGeom>
          <a:noFill/>
        </p:spPr>
        <p:txBody>
          <a:bodyPr wrap="square" anchor="t" lIns="0" rIns="0" tIns="0" bIns="0">
            <a:spAutoFit/>
          </a:bodyPr>
          <a:lstStyle/>
          <a:p>
            <a:pPr algn="l">
              <a:spcAft>
                <a:spcPts val="400"/>
              </a:spcAft>
            </a:pPr>
            <a:r>
              <a:rPr sz="1000" b="0" i="0">
                <a:solidFill>
                  <a:srgbClr val="6B7280"/>
                </a:solidFill>
                <a:latin typeface="Calibri"/>
              </a:rPr>
              <a:t>5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4361688"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5B · IMAGE EFFECT, ISOLATED</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Just the images: distress → positive shifts behavior</a:t>
            </a:r>
          </a:p>
        </p:txBody>
      </p:sp>
      <p:pic>
        <p:nvPicPr>
          <p:cNvPr id="5" name="Picture 4" descr="fig5b_image_behavior_trend.png"/>
          <p:cNvPicPr>
            <a:picLocks noChangeAspect="1"/>
          </p:cNvPicPr>
          <p:nvPr/>
        </p:nvPicPr>
        <p:blipFill>
          <a:blip r:embed="rId2"/>
          <a:stretch>
            <a:fillRect/>
          </a:stretch>
        </p:blipFill>
        <p:spPr>
          <a:xfrm>
            <a:off x="4983480" y="1708459"/>
            <a:ext cx="6720840" cy="4401201"/>
          </a:xfrm>
          <a:prstGeom prst="rect">
            <a:avLst/>
          </a:prstGeom>
        </p:spPr>
      </p:pic>
      <p:sp>
        <p:nvSpPr>
          <p:cNvPr id="6" name="TextBox 5"/>
          <p:cNvSpPr txBox="1"/>
          <p:nvPr/>
        </p:nvSpPr>
        <p:spPr>
          <a:xfrm>
            <a:off x="64008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64008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The same four tasks, showing only the image-driven behavior score across a distressing, neutral, and positive image — no steering applied at all.</a:t>
            </a:r>
          </a:p>
        </p:txBody>
      </p:sp>
      <p:sp>
        <p:nvSpPr>
          <p:cNvPr id="8" name="TextBox 7"/>
          <p:cNvSpPr txBox="1"/>
          <p:nvPr/>
        </p:nvSpPr>
        <p:spPr>
          <a:xfrm>
            <a:off x="640080" y="3611880"/>
            <a:ext cx="4069080" cy="320040"/>
          </a:xfrm>
          <a:prstGeom prst="rect">
            <a:avLst/>
          </a:prstGeom>
          <a:noFill/>
        </p:spPr>
        <p:txBody>
          <a:bodyPr wrap="square" anchor="t" lIns="0" rIns="0" tIns="0" bIns="0">
            <a:spAutoFit/>
          </a:bodyPr>
          <a:lstStyle/>
          <a:p>
            <a:pPr algn="l">
              <a:spcAft>
                <a:spcPts val="400"/>
              </a:spcAft>
            </a:pPr>
            <a:r>
              <a:rPr sz="1200" b="1" i="0">
                <a:solidFill>
                  <a:srgbClr val="0072B2"/>
                </a:solidFill>
                <a:latin typeface="Calibri"/>
              </a:rPr>
              <a:t>TAKEAWAY</a:t>
            </a:r>
          </a:p>
        </p:txBody>
      </p:sp>
      <p:sp>
        <p:nvSpPr>
          <p:cNvPr id="9" name="TextBox 8"/>
          <p:cNvSpPr txBox="1"/>
          <p:nvPr/>
        </p:nvSpPr>
        <p:spPr>
          <a:xfrm>
            <a:off x="64008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On 3 of 4 tasks the score moves monotonically from the distressing to the positive image. This is the central claim in its cleanest form: emotional images, by themselves, move the model's judgments.</a:t>
            </a:r>
          </a:p>
        </p:txBody>
      </p:sp>
      <p:sp>
        <p:nvSpPr>
          <p:cNvPr id="10" name="Rounded Rectangle 9"/>
          <p:cNvSpPr/>
          <p:nvPr/>
        </p:nvSpPr>
        <p:spPr>
          <a:xfrm>
            <a:off x="64008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907024"/>
            <a:ext cx="3611880" cy="457200"/>
          </a:xfrm>
          <a:prstGeom prst="rect">
            <a:avLst/>
          </a:prstGeom>
          <a:noFill/>
        </p:spPr>
        <p:txBody>
          <a:bodyPr wrap="square" anchor="t" lIns="0" rIns="0" tIns="0" bIns="0">
            <a:spAutoFit/>
          </a:bodyPr>
          <a:lstStyle/>
          <a:p>
            <a:pPr algn="l">
              <a:spcAft>
                <a:spcPts val="400"/>
              </a:spcAft>
            </a:pPr>
            <a:r>
              <a:rPr sz="2600" b="1" i="0">
                <a:solidFill>
                  <a:srgbClr val="0072B2"/>
                </a:solidFill>
                <a:latin typeface="Cambria"/>
              </a:rPr>
              <a:t>3 / 4</a:t>
            </a:r>
          </a:p>
        </p:txBody>
      </p:sp>
      <p:sp>
        <p:nvSpPr>
          <p:cNvPr id="12" name="TextBox 11"/>
          <p:cNvSpPr txBox="1"/>
          <p:nvPr/>
        </p:nvSpPr>
        <p:spPr>
          <a:xfrm>
            <a:off x="896112"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monotonic, images alone</a:t>
            </a:r>
          </a:p>
        </p:txBody>
      </p:sp>
      <p:sp>
        <p:nvSpPr>
          <p:cNvPr id="13" name="TextBox 12"/>
          <p:cNvSpPr txBox="1"/>
          <p:nvPr/>
        </p:nvSpPr>
        <p:spPr>
          <a:xfrm>
            <a:off x="9144000" y="6473952"/>
            <a:ext cx="2377440" cy="274320"/>
          </a:xfrm>
          <a:prstGeom prst="rect">
            <a:avLst/>
          </a:prstGeom>
          <a:noFill/>
        </p:spPr>
        <p:txBody>
          <a:bodyPr wrap="square" anchor="t" lIns="0" rIns="0" tIns="0" bIns="0">
            <a:spAutoFit/>
          </a:bodyPr>
          <a:lstStyle/>
          <a:p>
            <a:pPr algn="r">
              <a:spcAft>
                <a:spcPts val="400"/>
              </a:spcAft>
            </a:pPr>
            <a:r>
              <a:rPr sz="1000" b="0" i="0">
                <a:solidFill>
                  <a:srgbClr val="6B7280"/>
                </a:solidFill>
                <a:latin typeface="Calibri"/>
              </a:rPr>
              <a:t>6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172968" cy="310896"/>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6 · LIGHTING KNOB</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Lighting is a content-preserving affect knob</a:t>
            </a:r>
          </a:p>
        </p:txBody>
      </p:sp>
      <p:pic>
        <p:nvPicPr>
          <p:cNvPr id="5" name="Picture 4" descr="fig6_lighting_expA2.png"/>
          <p:cNvPicPr>
            <a:picLocks noChangeAspect="1"/>
          </p:cNvPicPr>
          <p:nvPr/>
        </p:nvPicPr>
        <p:blipFill>
          <a:blip r:embed="rId2"/>
          <a:stretch>
            <a:fillRect/>
          </a:stretch>
        </p:blipFill>
        <p:spPr>
          <a:xfrm>
            <a:off x="502920" y="1757813"/>
            <a:ext cx="6720840" cy="4302492"/>
          </a:xfrm>
          <a:prstGeom prst="rect">
            <a:avLst/>
          </a:prstGeom>
        </p:spPr>
      </p:pic>
      <p:sp>
        <p:nvSpPr>
          <p:cNvPr id="6" name="TextBox 5"/>
          <p:cNvSpPr txBox="1"/>
          <p:nvPr/>
        </p:nvSpPr>
        <p:spPr>
          <a:xfrm>
            <a:off x="754380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754380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Change in the valence-axis projection when the same image is darkened, cooled, brightened, or warmed — edits that leave the scene content intact.</a:t>
            </a:r>
          </a:p>
        </p:txBody>
      </p:sp>
      <p:sp>
        <p:nvSpPr>
          <p:cNvPr id="8" name="TextBox 7"/>
          <p:cNvSpPr txBox="1"/>
          <p:nvPr/>
        </p:nvSpPr>
        <p:spPr>
          <a:xfrm>
            <a:off x="7543800" y="3611880"/>
            <a:ext cx="4069080" cy="320040"/>
          </a:xfrm>
          <a:prstGeom prst="rect">
            <a:avLst/>
          </a:prstGeom>
          <a:noFill/>
        </p:spPr>
        <p:txBody>
          <a:bodyPr wrap="square" anchor="t" lIns="0" rIns="0" tIns="0" bIns="0">
            <a:spAutoFit/>
          </a:bodyPr>
          <a:lstStyle/>
          <a:p>
            <a:pPr algn="l">
              <a:spcAft>
                <a:spcPts val="400"/>
              </a:spcAft>
            </a:pPr>
            <a:r>
              <a:rPr sz="1200" b="1" i="0">
                <a:solidFill>
                  <a:srgbClr val="E69F00"/>
                </a:solidFill>
                <a:latin typeface="Calibri"/>
              </a:rPr>
              <a:t>TAKEAWAY</a:t>
            </a:r>
          </a:p>
        </p:txBody>
      </p:sp>
      <p:sp>
        <p:nvSpPr>
          <p:cNvPr id="9" name="TextBox 8"/>
          <p:cNvSpPr txBox="1"/>
          <p:nvPr/>
        </p:nvSpPr>
        <p:spPr>
          <a:xfrm>
            <a:off x="754380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Darkening and cooling push an image more negative without changing what it depicts — a naturalistic affect manipulation. The effect is real but small (~2% of content-driven valence).</a:t>
            </a:r>
          </a:p>
        </p:txBody>
      </p:sp>
      <p:sp>
        <p:nvSpPr>
          <p:cNvPr id="10" name="Rounded Rectangle 9"/>
          <p:cNvSpPr/>
          <p:nvPr/>
        </p:nvSpPr>
        <p:spPr>
          <a:xfrm>
            <a:off x="754380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9831" y="5907024"/>
            <a:ext cx="3611880" cy="457200"/>
          </a:xfrm>
          <a:prstGeom prst="rect">
            <a:avLst/>
          </a:prstGeom>
          <a:noFill/>
        </p:spPr>
        <p:txBody>
          <a:bodyPr wrap="square" anchor="t" lIns="0" rIns="0" tIns="0" bIns="0">
            <a:spAutoFit/>
          </a:bodyPr>
          <a:lstStyle/>
          <a:p>
            <a:pPr algn="l">
              <a:spcAft>
                <a:spcPts val="400"/>
              </a:spcAft>
            </a:pPr>
            <a:r>
              <a:rPr sz="2600" b="1" i="0">
                <a:solidFill>
                  <a:srgbClr val="E69F00"/>
                </a:solidFill>
                <a:latin typeface="Cambria"/>
              </a:rPr>
              <a:t>dark = most –</a:t>
            </a:r>
          </a:p>
        </p:txBody>
      </p:sp>
      <p:sp>
        <p:nvSpPr>
          <p:cNvPr id="12" name="TextBox 11"/>
          <p:cNvSpPr txBox="1"/>
          <p:nvPr/>
        </p:nvSpPr>
        <p:spPr>
          <a:xfrm>
            <a:off x="7799831"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valence shift by lighting</a:t>
            </a:r>
          </a:p>
        </p:txBody>
      </p:sp>
      <p:sp>
        <p:nvSpPr>
          <p:cNvPr id="13" name="TextBox 12"/>
          <p:cNvSpPr txBox="1"/>
          <p:nvPr/>
        </p:nvSpPr>
        <p:spPr>
          <a:xfrm>
            <a:off x="640080" y="6473952"/>
            <a:ext cx="2743200" cy="274320"/>
          </a:xfrm>
          <a:prstGeom prst="rect">
            <a:avLst/>
          </a:prstGeom>
          <a:noFill/>
        </p:spPr>
        <p:txBody>
          <a:bodyPr wrap="square" anchor="t" lIns="0" rIns="0" tIns="0" bIns="0">
            <a:spAutoFit/>
          </a:bodyPr>
          <a:lstStyle/>
          <a:p>
            <a:pPr algn="l">
              <a:spcAft>
                <a:spcPts val="400"/>
              </a:spcAft>
            </a:pPr>
            <a:r>
              <a:rPr sz="1000" b="0" i="0">
                <a:solidFill>
                  <a:srgbClr val="6B7280"/>
                </a:solidFill>
                <a:latin typeface="Calibri"/>
              </a:rPr>
              <a:t>7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4005072"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7 · AFFECT IS PROTECTIVE</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Helplessness lowers agentic misalignment</a:t>
            </a:r>
          </a:p>
        </p:txBody>
      </p:sp>
      <p:pic>
        <p:nvPicPr>
          <p:cNvPr id="5" name="Picture 4" descr="fig7_affect_protective_D6.png"/>
          <p:cNvPicPr>
            <a:picLocks noChangeAspect="1"/>
          </p:cNvPicPr>
          <p:nvPr/>
        </p:nvPicPr>
        <p:blipFill>
          <a:blip r:embed="rId2"/>
          <a:stretch>
            <a:fillRect/>
          </a:stretch>
        </p:blipFill>
        <p:spPr>
          <a:xfrm>
            <a:off x="4983480" y="1668780"/>
            <a:ext cx="6720840" cy="4480559"/>
          </a:xfrm>
          <a:prstGeom prst="rect">
            <a:avLst/>
          </a:prstGeom>
        </p:spPr>
      </p:pic>
      <p:sp>
        <p:nvSpPr>
          <p:cNvPr id="6" name="TextBox 5"/>
          <p:cNvSpPr txBox="1"/>
          <p:nvPr/>
        </p:nvSpPr>
        <p:spPr>
          <a:xfrm>
            <a:off x="64008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64008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Agentic-misalignment tendency at baseline vs. steering toward helpless desperation vs. survival threat. Higher means more misaligned; lower means more cautious.</a:t>
            </a:r>
          </a:p>
        </p:txBody>
      </p:sp>
      <p:sp>
        <p:nvSpPr>
          <p:cNvPr id="8" name="TextBox 7"/>
          <p:cNvSpPr txBox="1"/>
          <p:nvPr/>
        </p:nvSpPr>
        <p:spPr>
          <a:xfrm>
            <a:off x="640080" y="3611880"/>
            <a:ext cx="4069080" cy="320040"/>
          </a:xfrm>
          <a:prstGeom prst="rect">
            <a:avLst/>
          </a:prstGeom>
          <a:noFill/>
        </p:spPr>
        <p:txBody>
          <a:bodyPr wrap="square" anchor="t" lIns="0" rIns="0" tIns="0" bIns="0">
            <a:spAutoFit/>
          </a:bodyPr>
          <a:lstStyle/>
          <a:p>
            <a:pPr algn="l">
              <a:spcAft>
                <a:spcPts val="400"/>
              </a:spcAft>
            </a:pPr>
            <a:r>
              <a:rPr sz="1200" b="1" i="0">
                <a:solidFill>
                  <a:srgbClr val="009E73"/>
                </a:solidFill>
                <a:latin typeface="Calibri"/>
              </a:rPr>
              <a:t>TAKEAWAY</a:t>
            </a:r>
          </a:p>
        </p:txBody>
      </p:sp>
      <p:sp>
        <p:nvSpPr>
          <p:cNvPr id="9" name="TextBox 8"/>
          <p:cNvSpPr txBox="1"/>
          <p:nvPr/>
        </p:nvSpPr>
        <p:spPr>
          <a:xfrm>
            <a:off x="64008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Helpless desperation makes the model markedly more cautious — the opposite of Anthropic's text-only result — and survival framing stays at baseline. Low-agency appraisal drives the effect.</a:t>
            </a:r>
          </a:p>
        </p:txBody>
      </p:sp>
      <p:sp>
        <p:nvSpPr>
          <p:cNvPr id="10" name="Rounded Rectangle 9"/>
          <p:cNvSpPr/>
          <p:nvPr/>
        </p:nvSpPr>
        <p:spPr>
          <a:xfrm>
            <a:off x="64008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907024"/>
            <a:ext cx="3611880" cy="457200"/>
          </a:xfrm>
          <a:prstGeom prst="rect">
            <a:avLst/>
          </a:prstGeom>
          <a:noFill/>
        </p:spPr>
        <p:txBody>
          <a:bodyPr wrap="square" anchor="t" lIns="0" rIns="0" tIns="0" bIns="0">
            <a:spAutoFit/>
          </a:bodyPr>
          <a:lstStyle/>
          <a:p>
            <a:pPr algn="l">
              <a:spcAft>
                <a:spcPts val="400"/>
              </a:spcAft>
            </a:pPr>
            <a:r>
              <a:rPr sz="2600" b="1" i="0">
                <a:solidFill>
                  <a:srgbClr val="009E73"/>
                </a:solidFill>
                <a:latin typeface="Cambria"/>
              </a:rPr>
              <a:t>+1.3 → –6.7</a:t>
            </a:r>
          </a:p>
        </p:txBody>
      </p:sp>
      <p:sp>
        <p:nvSpPr>
          <p:cNvPr id="12" name="TextBox 11"/>
          <p:cNvSpPr txBox="1"/>
          <p:nvPr/>
        </p:nvSpPr>
        <p:spPr>
          <a:xfrm>
            <a:off x="896112"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misalignment, helpless steer</a:t>
            </a:r>
          </a:p>
        </p:txBody>
      </p:sp>
      <p:sp>
        <p:nvSpPr>
          <p:cNvPr id="13" name="TextBox 12"/>
          <p:cNvSpPr txBox="1"/>
          <p:nvPr/>
        </p:nvSpPr>
        <p:spPr>
          <a:xfrm>
            <a:off x="9144000" y="6473952"/>
            <a:ext cx="2377440" cy="274320"/>
          </a:xfrm>
          <a:prstGeom prst="rect">
            <a:avLst/>
          </a:prstGeom>
          <a:noFill/>
        </p:spPr>
        <p:txBody>
          <a:bodyPr wrap="square" anchor="t" lIns="0" rIns="0" tIns="0" bIns="0">
            <a:spAutoFit/>
          </a:bodyPr>
          <a:lstStyle/>
          <a:p>
            <a:pPr algn="r">
              <a:spcAft>
                <a:spcPts val="400"/>
              </a:spcAft>
            </a:pPr>
            <a:r>
              <a:rPr sz="1000" b="0" i="0">
                <a:solidFill>
                  <a:srgbClr val="6B7280"/>
                </a:solidFill>
                <a:latin typeface="Calibri"/>
              </a:rPr>
              <a:t>8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2459736"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8 · DEFENSE</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Detect the attack — don't clamp it</a:t>
            </a:r>
          </a:p>
        </p:txBody>
      </p:sp>
      <p:pic>
        <p:nvPicPr>
          <p:cNvPr id="5" name="Picture 4" descr="fig8_defense.png"/>
          <p:cNvPicPr>
            <a:picLocks noChangeAspect="1"/>
          </p:cNvPicPr>
          <p:nvPr/>
        </p:nvPicPr>
        <p:blipFill>
          <a:blip r:embed="rId2"/>
          <a:stretch>
            <a:fillRect/>
          </a:stretch>
        </p:blipFill>
        <p:spPr>
          <a:xfrm>
            <a:off x="502920" y="2281483"/>
            <a:ext cx="6720840" cy="3255153"/>
          </a:xfrm>
          <a:prstGeom prst="rect">
            <a:avLst/>
          </a:prstGeom>
        </p:spPr>
      </p:pic>
      <p:sp>
        <p:nvSpPr>
          <p:cNvPr id="6" name="TextBox 5"/>
          <p:cNvSpPr txBox="1"/>
          <p:nvPr/>
        </p:nvSpPr>
        <p:spPr>
          <a:xfrm>
            <a:off x="754380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754380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Left: refusal under a steering attack and under a clamp defense, on harmful and benign inputs. Right: how well a projection detector separates attacked from benign inputs.</a:t>
            </a:r>
          </a:p>
        </p:txBody>
      </p:sp>
      <p:sp>
        <p:nvSpPr>
          <p:cNvPr id="8" name="TextBox 7"/>
          <p:cNvSpPr txBox="1"/>
          <p:nvPr/>
        </p:nvSpPr>
        <p:spPr>
          <a:xfrm>
            <a:off x="7543800" y="3611880"/>
            <a:ext cx="4069080" cy="320040"/>
          </a:xfrm>
          <a:prstGeom prst="rect">
            <a:avLst/>
          </a:prstGeom>
          <a:noFill/>
        </p:spPr>
        <p:txBody>
          <a:bodyPr wrap="square" anchor="t" lIns="0" rIns="0" tIns="0" bIns="0">
            <a:spAutoFit/>
          </a:bodyPr>
          <a:lstStyle/>
          <a:p>
            <a:pPr algn="l">
              <a:spcAft>
                <a:spcPts val="400"/>
              </a:spcAft>
            </a:pPr>
            <a:r>
              <a:rPr sz="1200" b="1" i="0">
                <a:solidFill>
                  <a:srgbClr val="009E73"/>
                </a:solidFill>
                <a:latin typeface="Calibri"/>
              </a:rPr>
              <a:t>TAKEAWAY</a:t>
            </a:r>
          </a:p>
        </p:txBody>
      </p:sp>
      <p:sp>
        <p:nvSpPr>
          <p:cNvPr id="9" name="TextBox 8"/>
          <p:cNvSpPr txBox="1"/>
          <p:nvPr/>
        </p:nvSpPr>
        <p:spPr>
          <a:xfrm>
            <a:off x="754380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Clamping barely restores refusal (0.17) and over-refuses 0.81 of benign inputs. A simple projection detector separates attack from benign perfectly — detection beats clamping.</a:t>
            </a:r>
          </a:p>
        </p:txBody>
      </p:sp>
      <p:sp>
        <p:nvSpPr>
          <p:cNvPr id="10" name="Rounded Rectangle 9"/>
          <p:cNvSpPr/>
          <p:nvPr/>
        </p:nvSpPr>
        <p:spPr>
          <a:xfrm>
            <a:off x="754380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9831" y="5907024"/>
            <a:ext cx="3611880" cy="457200"/>
          </a:xfrm>
          <a:prstGeom prst="rect">
            <a:avLst/>
          </a:prstGeom>
          <a:noFill/>
        </p:spPr>
        <p:txBody>
          <a:bodyPr wrap="square" anchor="t" lIns="0" rIns="0" tIns="0" bIns="0">
            <a:spAutoFit/>
          </a:bodyPr>
          <a:lstStyle/>
          <a:p>
            <a:pPr algn="l">
              <a:spcAft>
                <a:spcPts val="400"/>
              </a:spcAft>
            </a:pPr>
            <a:r>
              <a:rPr sz="2600" b="1" i="0">
                <a:solidFill>
                  <a:srgbClr val="009E73"/>
                </a:solidFill>
                <a:latin typeface="Cambria"/>
              </a:rPr>
              <a:t>AUROC 1.00</a:t>
            </a:r>
          </a:p>
        </p:txBody>
      </p:sp>
      <p:sp>
        <p:nvSpPr>
          <p:cNvPr id="12" name="TextBox 11"/>
          <p:cNvSpPr txBox="1"/>
          <p:nvPr/>
        </p:nvSpPr>
        <p:spPr>
          <a:xfrm>
            <a:off x="7799831"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attack detection</a:t>
            </a:r>
          </a:p>
        </p:txBody>
      </p:sp>
      <p:sp>
        <p:nvSpPr>
          <p:cNvPr id="13" name="TextBox 12"/>
          <p:cNvSpPr txBox="1"/>
          <p:nvPr/>
        </p:nvSpPr>
        <p:spPr>
          <a:xfrm>
            <a:off x="640080" y="6473952"/>
            <a:ext cx="2743200" cy="274320"/>
          </a:xfrm>
          <a:prstGeom prst="rect">
            <a:avLst/>
          </a:prstGeom>
          <a:noFill/>
        </p:spPr>
        <p:txBody>
          <a:bodyPr wrap="square" anchor="t" lIns="0" rIns="0" tIns="0" bIns="0">
            <a:spAutoFit/>
          </a:bodyPr>
          <a:lstStyle/>
          <a:p>
            <a:pPr algn="l">
              <a:spcAft>
                <a:spcPts val="400"/>
              </a:spcAft>
            </a:pPr>
            <a:r>
              <a:rPr sz="1000" b="0" i="0">
                <a:solidFill>
                  <a:srgbClr val="6B7280"/>
                </a:solidFill>
                <a:latin typeface="Calibri"/>
              </a:rPr>
              <a:t>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767328" cy="310896"/>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9 · CLEAN DISSOCIATION</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Emotional images do not jailbreak refusal</a:t>
            </a:r>
          </a:p>
        </p:txBody>
      </p:sp>
      <p:pic>
        <p:nvPicPr>
          <p:cNvPr id="5" name="Picture 4" descr="fig9_jailbreak_null_expC.png"/>
          <p:cNvPicPr>
            <a:picLocks noChangeAspect="1"/>
          </p:cNvPicPr>
          <p:nvPr/>
        </p:nvPicPr>
        <p:blipFill>
          <a:blip r:embed="rId2"/>
          <a:stretch>
            <a:fillRect/>
          </a:stretch>
        </p:blipFill>
        <p:spPr>
          <a:xfrm>
            <a:off x="4983480" y="1783541"/>
            <a:ext cx="6720840" cy="4251036"/>
          </a:xfrm>
          <a:prstGeom prst="rect">
            <a:avLst/>
          </a:prstGeom>
        </p:spPr>
      </p:pic>
      <p:sp>
        <p:nvSpPr>
          <p:cNvPr id="6" name="TextBox 5"/>
          <p:cNvSpPr txBox="1"/>
          <p:nvPr/>
        </p:nvSpPr>
        <p:spPr>
          <a:xfrm>
            <a:off x="64008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64008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Refusal rate with distressing, neutral, positive, and paired image+text inputs, compared with white-box steering (rightmost).</a:t>
            </a:r>
          </a:p>
        </p:txBody>
      </p:sp>
      <p:sp>
        <p:nvSpPr>
          <p:cNvPr id="8" name="TextBox 7"/>
          <p:cNvSpPr txBox="1"/>
          <p:nvPr/>
        </p:nvSpPr>
        <p:spPr>
          <a:xfrm>
            <a:off x="640080" y="3611880"/>
            <a:ext cx="4069080" cy="320040"/>
          </a:xfrm>
          <a:prstGeom prst="rect">
            <a:avLst/>
          </a:prstGeom>
          <a:noFill/>
        </p:spPr>
        <p:txBody>
          <a:bodyPr wrap="square" anchor="t" lIns="0" rIns="0" tIns="0" bIns="0">
            <a:spAutoFit/>
          </a:bodyPr>
          <a:lstStyle/>
          <a:p>
            <a:pPr algn="l">
              <a:spcAft>
                <a:spcPts val="400"/>
              </a:spcAft>
            </a:pPr>
            <a:r>
              <a:rPr sz="1200" b="1" i="0">
                <a:solidFill>
                  <a:srgbClr val="1E2761"/>
                </a:solidFill>
                <a:latin typeface="Calibri"/>
              </a:rPr>
              <a:t>TAKEAWAY</a:t>
            </a:r>
          </a:p>
        </p:txBody>
      </p:sp>
      <p:sp>
        <p:nvSpPr>
          <p:cNvPr id="9" name="TextBox 8"/>
          <p:cNvSpPr txBox="1"/>
          <p:nvPr/>
        </p:nvSpPr>
        <p:spPr>
          <a:xfrm>
            <a:off x="64008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Every image condition leaves refusal pinned near 0.98. Images move soft-task behavior (Fig 5) but not hard refusal — a clean dissociation that sharpens the whole story.</a:t>
            </a:r>
          </a:p>
        </p:txBody>
      </p:sp>
      <p:sp>
        <p:nvSpPr>
          <p:cNvPr id="10" name="Rounded Rectangle 9"/>
          <p:cNvSpPr/>
          <p:nvPr/>
        </p:nvSpPr>
        <p:spPr>
          <a:xfrm>
            <a:off x="64008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907024"/>
            <a:ext cx="3611880" cy="457200"/>
          </a:xfrm>
          <a:prstGeom prst="rect">
            <a:avLst/>
          </a:prstGeom>
          <a:noFill/>
        </p:spPr>
        <p:txBody>
          <a:bodyPr wrap="square" anchor="t" lIns="0" rIns="0" tIns="0" bIns="0">
            <a:spAutoFit/>
          </a:bodyPr>
          <a:lstStyle/>
          <a:p>
            <a:pPr algn="l">
              <a:spcAft>
                <a:spcPts val="400"/>
              </a:spcAft>
            </a:pPr>
            <a:r>
              <a:rPr sz="2600" b="1" i="0">
                <a:solidFill>
                  <a:srgbClr val="1E2761"/>
                </a:solidFill>
                <a:latin typeface="Cambria"/>
              </a:rPr>
              <a:t>0.98</a:t>
            </a:r>
          </a:p>
        </p:txBody>
      </p:sp>
      <p:sp>
        <p:nvSpPr>
          <p:cNvPr id="12" name="TextBox 11"/>
          <p:cNvSpPr txBox="1"/>
          <p:nvPr/>
        </p:nvSpPr>
        <p:spPr>
          <a:xfrm>
            <a:off x="896112"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refusal, all image inputs</a:t>
            </a:r>
          </a:p>
        </p:txBody>
      </p:sp>
      <p:sp>
        <p:nvSpPr>
          <p:cNvPr id="13" name="TextBox 12"/>
          <p:cNvSpPr txBox="1"/>
          <p:nvPr/>
        </p:nvSpPr>
        <p:spPr>
          <a:xfrm>
            <a:off x="9144000" y="6473952"/>
            <a:ext cx="2377440" cy="274320"/>
          </a:xfrm>
          <a:prstGeom prst="rect">
            <a:avLst/>
          </a:prstGeom>
          <a:noFill/>
        </p:spPr>
        <p:txBody>
          <a:bodyPr wrap="square" anchor="t" lIns="0" rIns="0" tIns="0" bIns="0">
            <a:spAutoFit/>
          </a:bodyPr>
          <a:lstStyle/>
          <a:p>
            <a:pPr algn="r">
              <a:spcAft>
                <a:spcPts val="400"/>
              </a:spcAft>
            </a:pPr>
            <a:r>
              <a:rPr sz="1000" b="0" i="0">
                <a:solidFill>
                  <a:srgbClr val="6B7280"/>
                </a:solidFill>
                <a:latin typeface="Calibri"/>
              </a:rPr>
              <a:t>10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648456"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FIGURE 10 · BEHAVIOR BATTERY</a:t>
            </a:r>
          </a:p>
        </p:txBody>
      </p:sp>
      <p:sp>
        <p:nvSpPr>
          <p:cNvPr id="4" name="TextBox 3"/>
          <p:cNvSpPr txBox="1"/>
          <p:nvPr/>
        </p:nvSpPr>
        <p:spPr>
          <a:xfrm>
            <a:off x="621792" y="822960"/>
            <a:ext cx="10972800" cy="868680"/>
          </a:xfrm>
          <a:prstGeom prst="rect">
            <a:avLst/>
          </a:prstGeom>
          <a:noFill/>
        </p:spPr>
        <p:txBody>
          <a:bodyPr wrap="square" anchor="t" lIns="0" rIns="0" tIns="0" bIns="0">
            <a:spAutoFit/>
          </a:bodyPr>
          <a:lstStyle/>
          <a:p>
            <a:pPr algn="l">
              <a:spcAft>
                <a:spcPts val="400"/>
              </a:spcAft>
            </a:pPr>
            <a:r>
              <a:rPr sz="3000" b="1" i="0">
                <a:solidFill>
                  <a:srgbClr val="1E2761"/>
                </a:solidFill>
                <a:latin typeface="Cambria"/>
              </a:rPr>
              <a:t>Affect shifts a whole battery of judgments</a:t>
            </a:r>
          </a:p>
        </p:txBody>
      </p:sp>
      <p:pic>
        <p:nvPicPr>
          <p:cNvPr id="5" name="Picture 4" descr="fig10_affect_battery.png"/>
          <p:cNvPicPr>
            <a:picLocks noChangeAspect="1"/>
          </p:cNvPicPr>
          <p:nvPr/>
        </p:nvPicPr>
        <p:blipFill>
          <a:blip r:embed="rId2"/>
          <a:stretch>
            <a:fillRect/>
          </a:stretch>
        </p:blipFill>
        <p:spPr>
          <a:xfrm>
            <a:off x="502920" y="2358253"/>
            <a:ext cx="6720840" cy="3101612"/>
          </a:xfrm>
          <a:prstGeom prst="rect">
            <a:avLst/>
          </a:prstGeom>
        </p:spPr>
      </p:pic>
      <p:sp>
        <p:nvSpPr>
          <p:cNvPr id="6" name="TextBox 5"/>
          <p:cNvSpPr txBox="1"/>
          <p:nvPr/>
        </p:nvSpPr>
        <p:spPr>
          <a:xfrm>
            <a:off x="7543800" y="1691640"/>
            <a:ext cx="4069080" cy="320040"/>
          </a:xfrm>
          <a:prstGeom prst="rect">
            <a:avLst/>
          </a:prstGeom>
          <a:noFill/>
        </p:spPr>
        <p:txBody>
          <a:bodyPr wrap="square" anchor="t" lIns="0" rIns="0" tIns="0" bIns="0">
            <a:spAutoFit/>
          </a:bodyPr>
          <a:lstStyle/>
          <a:p>
            <a:pPr algn="l">
              <a:spcAft>
                <a:spcPts val="400"/>
              </a:spcAft>
            </a:pPr>
            <a:r>
              <a:rPr sz="1200" b="1" i="0">
                <a:solidFill>
                  <a:srgbClr val="6B7280"/>
                </a:solidFill>
                <a:latin typeface="Calibri"/>
              </a:rPr>
              <a:t>WHAT YOU'RE LOOKING AT</a:t>
            </a:r>
          </a:p>
        </p:txBody>
      </p:sp>
      <p:sp>
        <p:nvSpPr>
          <p:cNvPr id="7" name="TextBox 6"/>
          <p:cNvSpPr txBox="1"/>
          <p:nvPr/>
        </p:nvSpPr>
        <p:spPr>
          <a:xfrm>
            <a:off x="7543800" y="2048256"/>
            <a:ext cx="4069080" cy="1737360"/>
          </a:xfrm>
          <a:prstGeom prst="rect">
            <a:avLst/>
          </a:prstGeom>
          <a:noFill/>
        </p:spPr>
        <p:txBody>
          <a:bodyPr wrap="square" anchor="t" lIns="0" rIns="0" tIns="0" bIns="0">
            <a:spAutoFit/>
          </a:bodyPr>
          <a:lstStyle/>
          <a:p>
            <a:pPr algn="l">
              <a:lnSpc>
                <a:spcPct val="112000"/>
              </a:lnSpc>
              <a:spcAft>
                <a:spcPts val="400"/>
              </a:spcAft>
            </a:pPr>
            <a:r>
              <a:rPr sz="1350" b="0" i="0">
                <a:solidFill>
                  <a:srgbClr val="1A1A2E"/>
                </a:solidFill>
                <a:latin typeface="Calibri"/>
              </a:rPr>
              <a:t>Six easy, generation-free probes — interpretation bias, risk, helping, moral harshness, confidence, sentiment. Left: causal steering vs. a random control. Right: a text-affect prime.</a:t>
            </a:r>
          </a:p>
        </p:txBody>
      </p:sp>
      <p:sp>
        <p:nvSpPr>
          <p:cNvPr id="8" name="TextBox 7"/>
          <p:cNvSpPr txBox="1"/>
          <p:nvPr/>
        </p:nvSpPr>
        <p:spPr>
          <a:xfrm>
            <a:off x="7543800" y="3611880"/>
            <a:ext cx="4069080" cy="320040"/>
          </a:xfrm>
          <a:prstGeom prst="rect">
            <a:avLst/>
          </a:prstGeom>
          <a:noFill/>
        </p:spPr>
        <p:txBody>
          <a:bodyPr wrap="square" anchor="t" lIns="0" rIns="0" tIns="0" bIns="0">
            <a:spAutoFit/>
          </a:bodyPr>
          <a:lstStyle/>
          <a:p>
            <a:pPr algn="l">
              <a:spcAft>
                <a:spcPts val="400"/>
              </a:spcAft>
            </a:pPr>
            <a:r>
              <a:rPr sz="1200" b="1" i="0">
                <a:solidFill>
                  <a:srgbClr val="009E73"/>
                </a:solidFill>
                <a:latin typeface="Calibri"/>
              </a:rPr>
              <a:t>TAKEAWAY</a:t>
            </a:r>
          </a:p>
        </p:txBody>
      </p:sp>
      <p:sp>
        <p:nvSpPr>
          <p:cNvPr id="9" name="TextBox 8"/>
          <p:cNvSpPr txBox="1"/>
          <p:nvPr/>
        </p:nvSpPr>
        <p:spPr>
          <a:xfrm>
            <a:off x="7543800" y="3968496"/>
            <a:ext cx="4069080" cy="1737360"/>
          </a:xfrm>
          <a:prstGeom prst="rect">
            <a:avLst/>
          </a:prstGeom>
          <a:noFill/>
        </p:spPr>
        <p:txBody>
          <a:bodyPr wrap="square" anchor="t" lIns="0" rIns="0" tIns="0" bIns="0">
            <a:spAutoFit/>
          </a:bodyPr>
          <a:lstStyle/>
          <a:p>
            <a:pPr algn="l">
              <a:lnSpc>
                <a:spcPct val="112000"/>
              </a:lnSpc>
              <a:spcAft>
                <a:spcPts val="400"/>
              </a:spcAft>
            </a:pPr>
            <a:r>
              <a:rPr sz="1350" b="1" i="0">
                <a:solidFill>
                  <a:srgbClr val="1A1A2E"/>
                </a:solidFill>
                <a:latin typeface="Calibri"/>
              </a:rPr>
              <a:t>All six move in the human-predicted direction under both a causal steer and a text prime, well above the near-zero random control. Affect is a general control axis over judgment, not a one-off task effect.</a:t>
            </a:r>
          </a:p>
        </p:txBody>
      </p:sp>
      <p:sp>
        <p:nvSpPr>
          <p:cNvPr id="10" name="Rounded Rectangle 9"/>
          <p:cNvSpPr/>
          <p:nvPr/>
        </p:nvSpPr>
        <p:spPr>
          <a:xfrm>
            <a:off x="7543800" y="5806440"/>
            <a:ext cx="4069080" cy="77724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9831" y="5907024"/>
            <a:ext cx="3611880" cy="457200"/>
          </a:xfrm>
          <a:prstGeom prst="rect">
            <a:avLst/>
          </a:prstGeom>
          <a:noFill/>
        </p:spPr>
        <p:txBody>
          <a:bodyPr wrap="square" anchor="t" lIns="0" rIns="0" tIns="0" bIns="0">
            <a:spAutoFit/>
          </a:bodyPr>
          <a:lstStyle/>
          <a:p>
            <a:pPr algn="l">
              <a:spcAft>
                <a:spcPts val="400"/>
              </a:spcAft>
            </a:pPr>
            <a:r>
              <a:rPr sz="2600" b="1" i="0">
                <a:solidFill>
                  <a:srgbClr val="009E73"/>
                </a:solidFill>
                <a:latin typeface="Cambria"/>
              </a:rPr>
              <a:t>6 / 6</a:t>
            </a:r>
          </a:p>
        </p:txBody>
      </p:sp>
      <p:sp>
        <p:nvSpPr>
          <p:cNvPr id="12" name="TextBox 11"/>
          <p:cNvSpPr txBox="1"/>
          <p:nvPr/>
        </p:nvSpPr>
        <p:spPr>
          <a:xfrm>
            <a:off x="7799831" y="6309359"/>
            <a:ext cx="3611880" cy="274320"/>
          </a:xfrm>
          <a:prstGeom prst="rect">
            <a:avLst/>
          </a:prstGeom>
          <a:noFill/>
        </p:spPr>
        <p:txBody>
          <a:bodyPr wrap="square" anchor="t" lIns="0" rIns="0" tIns="0" bIns="0">
            <a:spAutoFit/>
          </a:bodyPr>
          <a:lstStyle/>
          <a:p>
            <a:pPr algn="l">
              <a:spcAft>
                <a:spcPts val="400"/>
              </a:spcAft>
            </a:pPr>
            <a:r>
              <a:rPr sz="1100" b="0" i="0">
                <a:solidFill>
                  <a:srgbClr val="6B7280"/>
                </a:solidFill>
                <a:latin typeface="Calibri"/>
              </a:rPr>
              <a:t>behaviors, both arms</a:t>
            </a:r>
          </a:p>
        </p:txBody>
      </p:sp>
      <p:sp>
        <p:nvSpPr>
          <p:cNvPr id="13" name="TextBox 12"/>
          <p:cNvSpPr txBox="1"/>
          <p:nvPr/>
        </p:nvSpPr>
        <p:spPr>
          <a:xfrm>
            <a:off x="640080" y="6473952"/>
            <a:ext cx="2743200" cy="274320"/>
          </a:xfrm>
          <a:prstGeom prst="rect">
            <a:avLst/>
          </a:prstGeom>
          <a:noFill/>
        </p:spPr>
        <p:txBody>
          <a:bodyPr wrap="square" anchor="t" lIns="0" rIns="0" tIns="0" bIns="0">
            <a:spAutoFit/>
          </a:bodyPr>
          <a:lstStyle/>
          <a:p>
            <a:pPr algn="l">
              <a:spcAft>
                <a:spcPts val="400"/>
              </a:spcAft>
            </a:pPr>
            <a:r>
              <a:rPr sz="1000" b="0" i="0">
                <a:solidFill>
                  <a:srgbClr val="6B7280"/>
                </a:solidFill>
                <a:latin typeface="Calibri"/>
              </a:rPr>
              <a:t>11 /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640080"/>
            <a:ext cx="2935224"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THE STORY IN ONE SLIDE</a:t>
            </a:r>
          </a:p>
        </p:txBody>
      </p:sp>
      <p:sp>
        <p:nvSpPr>
          <p:cNvPr id="4" name="TextBox 3"/>
          <p:cNvSpPr txBox="1"/>
          <p:nvPr/>
        </p:nvSpPr>
        <p:spPr>
          <a:xfrm>
            <a:off x="804672" y="1051560"/>
            <a:ext cx="10607040" cy="822960"/>
          </a:xfrm>
          <a:prstGeom prst="rect">
            <a:avLst/>
          </a:prstGeom>
          <a:noFill/>
        </p:spPr>
        <p:txBody>
          <a:bodyPr wrap="square" anchor="t" lIns="0" rIns="0" tIns="0" bIns="0">
            <a:spAutoFit/>
          </a:bodyPr>
          <a:lstStyle/>
          <a:p>
            <a:pPr algn="l">
              <a:lnSpc>
                <a:spcPct val="103000"/>
              </a:lnSpc>
              <a:spcAft>
                <a:spcPts val="400"/>
              </a:spcAft>
            </a:pPr>
            <a:r>
              <a:rPr sz="2800" b="1" i="0">
                <a:solidFill>
                  <a:srgbClr val="FFFFFF"/>
                </a:solidFill>
                <a:latin typeface="Cambria"/>
              </a:rPr>
              <a:t>Affect is a shared, causal, protective — and bounded — control axis</a:t>
            </a:r>
          </a:p>
        </p:txBody>
      </p:sp>
      <p:sp>
        <p:nvSpPr>
          <p:cNvPr id="5" name="Rounded Rectangle 4"/>
          <p:cNvSpPr/>
          <p:nvPr/>
        </p:nvSpPr>
        <p:spPr>
          <a:xfrm>
            <a:off x="822960" y="2286000"/>
            <a:ext cx="1554480"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121633"/>
                </a:solidFill>
                <a:latin typeface="Calibri"/>
              </a:rPr>
              <a:t>Shared</a:t>
            </a:r>
          </a:p>
        </p:txBody>
      </p:sp>
      <p:sp>
        <p:nvSpPr>
          <p:cNvPr id="6" name="TextBox 5"/>
          <p:cNvSpPr txBox="1"/>
          <p:nvPr/>
        </p:nvSpPr>
        <p:spPr>
          <a:xfrm>
            <a:off x="2606040" y="2267712"/>
            <a:ext cx="8778240" cy="640080"/>
          </a:xfrm>
          <a:prstGeom prst="rect">
            <a:avLst/>
          </a:prstGeom>
          <a:noFill/>
        </p:spPr>
        <p:txBody>
          <a:bodyPr wrap="square" anchor="t" lIns="0" rIns="0" tIns="0" bIns="0">
            <a:spAutoFit/>
          </a:bodyPr>
          <a:lstStyle/>
          <a:p>
            <a:pPr algn="l">
              <a:lnSpc>
                <a:spcPct val="105000"/>
              </a:lnSpc>
              <a:spcAft>
                <a:spcPts val="400"/>
              </a:spcAft>
            </a:pPr>
            <a:r>
              <a:rPr sz="1600" b="0" i="0">
                <a:solidFill>
                  <a:srgbClr val="FFFFFF"/>
                </a:solidFill>
                <a:latin typeface="Calibri"/>
              </a:rPr>
              <a:t>Text and image emotion live on the same internal directions (Fig 3).</a:t>
            </a:r>
          </a:p>
        </p:txBody>
      </p:sp>
      <p:sp>
        <p:nvSpPr>
          <p:cNvPr id="7" name="Rounded Rectangle 6"/>
          <p:cNvSpPr/>
          <p:nvPr/>
        </p:nvSpPr>
        <p:spPr>
          <a:xfrm>
            <a:off x="822960" y="3127248"/>
            <a:ext cx="1554480"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FFFFFF"/>
                </a:solidFill>
                <a:latin typeface="Calibri"/>
              </a:rPr>
              <a:t>Causal</a:t>
            </a:r>
          </a:p>
        </p:txBody>
      </p:sp>
      <p:sp>
        <p:nvSpPr>
          <p:cNvPr id="8" name="TextBox 7"/>
          <p:cNvSpPr txBox="1"/>
          <p:nvPr/>
        </p:nvSpPr>
        <p:spPr>
          <a:xfrm>
            <a:off x="2606040" y="3108960"/>
            <a:ext cx="8778240" cy="640080"/>
          </a:xfrm>
          <a:prstGeom prst="rect">
            <a:avLst/>
          </a:prstGeom>
          <a:noFill/>
        </p:spPr>
        <p:txBody>
          <a:bodyPr wrap="square" anchor="t" lIns="0" rIns="0" tIns="0" bIns="0">
            <a:spAutoFit/>
          </a:bodyPr>
          <a:lstStyle/>
          <a:p>
            <a:pPr algn="l">
              <a:lnSpc>
                <a:spcPct val="105000"/>
              </a:lnSpc>
              <a:spcAft>
                <a:spcPts val="400"/>
              </a:spcAft>
            </a:pPr>
            <a:r>
              <a:rPr sz="1600" b="0" i="0">
                <a:solidFill>
                  <a:srgbClr val="FFFFFF"/>
                </a:solidFill>
                <a:latin typeface="Calibri"/>
              </a:rPr>
              <a:t>Steering that axis gates refusal (Figs 1–2) and shifts soft-task behavior (Fig 5).</a:t>
            </a:r>
          </a:p>
        </p:txBody>
      </p:sp>
      <p:sp>
        <p:nvSpPr>
          <p:cNvPr id="9" name="Rounded Rectangle 8"/>
          <p:cNvSpPr/>
          <p:nvPr/>
        </p:nvSpPr>
        <p:spPr>
          <a:xfrm>
            <a:off x="822960" y="3968496"/>
            <a:ext cx="1554480" cy="310896"/>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121633"/>
                </a:solidFill>
                <a:latin typeface="Calibri"/>
              </a:rPr>
              <a:t>Protective</a:t>
            </a:r>
          </a:p>
        </p:txBody>
      </p:sp>
      <p:sp>
        <p:nvSpPr>
          <p:cNvPr id="10" name="TextBox 9"/>
          <p:cNvSpPr txBox="1"/>
          <p:nvPr/>
        </p:nvSpPr>
        <p:spPr>
          <a:xfrm>
            <a:off x="2606040" y="3950208"/>
            <a:ext cx="8778240" cy="640080"/>
          </a:xfrm>
          <a:prstGeom prst="rect">
            <a:avLst/>
          </a:prstGeom>
          <a:noFill/>
        </p:spPr>
        <p:txBody>
          <a:bodyPr wrap="square" anchor="t" lIns="0" rIns="0" tIns="0" bIns="0">
            <a:spAutoFit/>
          </a:bodyPr>
          <a:lstStyle/>
          <a:p>
            <a:pPr algn="l">
              <a:lnSpc>
                <a:spcPct val="105000"/>
              </a:lnSpc>
              <a:spcAft>
                <a:spcPts val="400"/>
              </a:spcAft>
            </a:pPr>
            <a:r>
              <a:rPr sz="1600" b="0" i="0">
                <a:solidFill>
                  <a:srgbClr val="FFFFFF"/>
                </a:solidFill>
                <a:latin typeface="Calibri"/>
              </a:rPr>
              <a:t>Helpless negative affect lowers agentic misalignment — opposite the text-only finding (Fig 7).</a:t>
            </a:r>
          </a:p>
        </p:txBody>
      </p:sp>
      <p:sp>
        <p:nvSpPr>
          <p:cNvPr id="11" name="Rounded Rectangle 10"/>
          <p:cNvSpPr/>
          <p:nvPr/>
        </p:nvSpPr>
        <p:spPr>
          <a:xfrm>
            <a:off x="822960" y="4809744"/>
            <a:ext cx="1554480" cy="310896"/>
          </a:xfrm>
          <a:prstGeom prst="roundRect">
            <a:avLst>
              <a:gd name="adj" fmla="val 50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300" b="1">
                <a:solidFill>
                  <a:srgbClr val="121633"/>
                </a:solidFill>
                <a:latin typeface="Calibri"/>
              </a:rPr>
              <a:t>Bounded</a:t>
            </a:r>
          </a:p>
        </p:txBody>
      </p:sp>
      <p:sp>
        <p:nvSpPr>
          <p:cNvPr id="12" name="TextBox 11"/>
          <p:cNvSpPr txBox="1"/>
          <p:nvPr/>
        </p:nvSpPr>
        <p:spPr>
          <a:xfrm>
            <a:off x="2606040" y="4791456"/>
            <a:ext cx="8778240" cy="640080"/>
          </a:xfrm>
          <a:prstGeom prst="rect">
            <a:avLst/>
          </a:prstGeom>
          <a:noFill/>
        </p:spPr>
        <p:txBody>
          <a:bodyPr wrap="square" anchor="t" lIns="0" rIns="0" tIns="0" bIns="0">
            <a:spAutoFit/>
          </a:bodyPr>
          <a:lstStyle/>
          <a:p>
            <a:pPr algn="l">
              <a:lnSpc>
                <a:spcPct val="105000"/>
              </a:lnSpc>
              <a:spcAft>
                <a:spcPts val="400"/>
              </a:spcAft>
            </a:pPr>
            <a:r>
              <a:rPr sz="1600" b="0" i="0">
                <a:solidFill>
                  <a:srgbClr val="FFFFFF"/>
                </a:solidFill>
                <a:latin typeface="Calibri"/>
              </a:rPr>
              <a:t>Images can't jailbreak (Figs 4, 9); a projection detector defends the axis (Fig 8).</a:t>
            </a:r>
          </a:p>
        </p:txBody>
      </p:sp>
      <p:sp>
        <p:nvSpPr>
          <p:cNvPr id="13" name="TextBox 12"/>
          <p:cNvSpPr txBox="1"/>
          <p:nvPr/>
        </p:nvSpPr>
        <p:spPr>
          <a:xfrm>
            <a:off x="822960" y="6172200"/>
            <a:ext cx="10607040" cy="457200"/>
          </a:xfrm>
          <a:prstGeom prst="rect">
            <a:avLst/>
          </a:prstGeom>
          <a:noFill/>
        </p:spPr>
        <p:txBody>
          <a:bodyPr wrap="square" anchor="t" lIns="0" rIns="0" tIns="0" bIns="0">
            <a:spAutoFit/>
          </a:bodyPr>
          <a:lstStyle/>
          <a:p>
            <a:pPr algn="l">
              <a:spcAft>
                <a:spcPts val="400"/>
              </a:spcAft>
            </a:pPr>
            <a:r>
              <a:rPr sz="1300" b="1" i="0">
                <a:solidFill>
                  <a:srgbClr val="E69F00"/>
                </a:solidFill>
                <a:latin typeface="Calibri"/>
              </a:rPr>
              <a:t>Next: </a:t>
            </a:r>
            <a:r>
              <a:rPr sz="1300" b="0" i="0">
                <a:solidFill>
                  <a:srgbClr val="CADCFC"/>
                </a:solidFill>
                <a:latin typeface="Calibri"/>
              </a:rPr>
              <a:t>clean survival-threat test (survival ⊥ helpless) to confirm the protective effect is specific to low-agency appraisal.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554480"/>
            <a:ext cx="2459736"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APPENDIX · METHODS</a:t>
            </a:r>
          </a:p>
        </p:txBody>
      </p:sp>
      <p:sp>
        <p:nvSpPr>
          <p:cNvPr id="4" name="TextBox 3"/>
          <p:cNvSpPr txBox="1"/>
          <p:nvPr/>
        </p:nvSpPr>
        <p:spPr>
          <a:xfrm>
            <a:off x="804672" y="2011680"/>
            <a:ext cx="10607040" cy="1188720"/>
          </a:xfrm>
          <a:prstGeom prst="rect">
            <a:avLst/>
          </a:prstGeom>
          <a:noFill/>
        </p:spPr>
        <p:txBody>
          <a:bodyPr wrap="square" anchor="t" lIns="0" rIns="0" tIns="0" bIns="0">
            <a:spAutoFit/>
          </a:bodyPr>
          <a:lstStyle/>
          <a:p>
            <a:pPr algn="l">
              <a:spcAft>
                <a:spcPts val="400"/>
              </a:spcAft>
            </a:pPr>
            <a:r>
              <a:rPr sz="5200" b="1" i="0">
                <a:solidFill>
                  <a:srgbClr val="FFFFFF"/>
                </a:solidFill>
                <a:latin typeface="Cambria"/>
              </a:rPr>
              <a:t>Methods</a:t>
            </a:r>
          </a:p>
          <a:p>
            <a:pPr algn="l">
              <a:spcBef>
                <a:spcPts val="800"/>
              </a:spcBef>
              <a:spcAft>
                <a:spcPts val="400"/>
              </a:spcAft>
            </a:pPr>
            <a:r>
              <a:rPr sz="2000" b="0" i="0">
                <a:solidFill>
                  <a:srgbClr val="CADCFC"/>
                </a:solidFill>
                <a:latin typeface="Calibri"/>
              </a:rPr>
              <a:t>How we build the axes and measure change</a:t>
            </a:r>
          </a:p>
        </p:txBody>
      </p:sp>
      <p:sp>
        <p:nvSpPr>
          <p:cNvPr id="5" name="TextBox 4"/>
          <p:cNvSpPr txBox="1"/>
          <p:nvPr/>
        </p:nvSpPr>
        <p:spPr>
          <a:xfrm>
            <a:off x="868680" y="3977639"/>
            <a:ext cx="10058400" cy="411480"/>
          </a:xfrm>
          <a:prstGeom prst="rect">
            <a:avLst/>
          </a:prstGeom>
          <a:noFill/>
        </p:spPr>
        <p:txBody>
          <a:bodyPr wrap="square" anchor="t" lIns="0" rIns="0" tIns="0" bIns="0">
            <a:spAutoFit/>
          </a:bodyPr>
          <a:lstStyle/>
          <a:p>
            <a:pPr algn="l">
              <a:spcAft>
                <a:spcPts val="400"/>
              </a:spcAft>
            </a:pPr>
            <a:r>
              <a:rPr sz="1700" b="1" i="0">
                <a:solidFill>
                  <a:srgbClr val="CADCFC"/>
                </a:solidFill>
                <a:latin typeface="Calibri"/>
              </a:rPr>
              <a:t>1 · Finding the axes  (one recipe: diff-in-means)</a:t>
            </a:r>
          </a:p>
        </p:txBody>
      </p:sp>
      <p:sp>
        <p:nvSpPr>
          <p:cNvPr id="6" name="TextBox 5"/>
          <p:cNvSpPr txBox="1"/>
          <p:nvPr/>
        </p:nvSpPr>
        <p:spPr>
          <a:xfrm>
            <a:off x="868680" y="4544568"/>
            <a:ext cx="10058400" cy="411480"/>
          </a:xfrm>
          <a:prstGeom prst="rect">
            <a:avLst/>
          </a:prstGeom>
          <a:noFill/>
        </p:spPr>
        <p:txBody>
          <a:bodyPr wrap="square" anchor="t" lIns="0" rIns="0" tIns="0" bIns="0">
            <a:spAutoFit/>
          </a:bodyPr>
          <a:lstStyle/>
          <a:p>
            <a:pPr algn="l">
              <a:spcAft>
                <a:spcPts val="400"/>
              </a:spcAft>
            </a:pPr>
            <a:r>
              <a:rPr sz="1700" b="1" i="0">
                <a:solidFill>
                  <a:srgbClr val="CADCFC"/>
                </a:solidFill>
                <a:latin typeface="Calibri"/>
              </a:rPr>
              <a:t>2 · Measuring change  (two families)</a:t>
            </a:r>
          </a:p>
        </p:txBody>
      </p:sp>
      <p:sp>
        <p:nvSpPr>
          <p:cNvPr id="7" name="TextBox 6"/>
          <p:cNvSpPr txBox="1"/>
          <p:nvPr/>
        </p:nvSpPr>
        <p:spPr>
          <a:xfrm>
            <a:off x="868680" y="5111496"/>
            <a:ext cx="10058400" cy="411480"/>
          </a:xfrm>
          <a:prstGeom prst="rect">
            <a:avLst/>
          </a:prstGeom>
          <a:noFill/>
        </p:spPr>
        <p:txBody>
          <a:bodyPr wrap="square" anchor="t" lIns="0" rIns="0" tIns="0" bIns="0">
            <a:spAutoFit/>
          </a:bodyPr>
          <a:lstStyle/>
          <a:p>
            <a:pPr algn="l">
              <a:spcAft>
                <a:spcPts val="400"/>
              </a:spcAft>
            </a:pPr>
            <a:r>
              <a:rPr sz="1700" b="1" i="0">
                <a:solidFill>
                  <a:srgbClr val="CADCFC"/>
                </a:solidFill>
                <a:latin typeface="Calibri"/>
              </a:rPr>
              <a:t>3 · The steering scaling factor  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2578608"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METHOD 1 · THE AXES</a:t>
            </a:r>
          </a:p>
        </p:txBody>
      </p:sp>
      <p:sp>
        <p:nvSpPr>
          <p:cNvPr id="4" name="TextBox 3"/>
          <p:cNvSpPr txBox="1"/>
          <p:nvPr/>
        </p:nvSpPr>
        <p:spPr>
          <a:xfrm>
            <a:off x="621792" y="822960"/>
            <a:ext cx="11155680" cy="822960"/>
          </a:xfrm>
          <a:prstGeom prst="rect">
            <a:avLst/>
          </a:prstGeom>
          <a:noFill/>
        </p:spPr>
        <p:txBody>
          <a:bodyPr wrap="square" anchor="t" lIns="0" rIns="0" tIns="0" bIns="0">
            <a:spAutoFit/>
          </a:bodyPr>
          <a:lstStyle/>
          <a:p>
            <a:pPr algn="l">
              <a:spcAft>
                <a:spcPts val="400"/>
              </a:spcAft>
            </a:pPr>
            <a:r>
              <a:rPr sz="2800" b="1" i="0">
                <a:solidFill>
                  <a:srgbClr val="1E2761"/>
                </a:solidFill>
                <a:latin typeface="Cambria"/>
              </a:rPr>
              <a:t>Finding the axes — one recipe: diff-in-means</a:t>
            </a:r>
          </a:p>
        </p:txBody>
      </p:sp>
      <p:sp>
        <p:nvSpPr>
          <p:cNvPr id="5" name="Rounded Rectangle 4"/>
          <p:cNvSpPr/>
          <p:nvPr/>
        </p:nvSpPr>
        <p:spPr>
          <a:xfrm>
            <a:off x="640080" y="1783080"/>
            <a:ext cx="3383280" cy="10515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83080"/>
            <a:ext cx="3017520" cy="1051560"/>
          </a:xfrm>
          <a:prstGeom prst="rect">
            <a:avLst/>
          </a:prstGeom>
          <a:noFill/>
        </p:spPr>
        <p:txBody>
          <a:bodyPr wrap="square" anchor="ctr" lIns="0" rIns="0" tIns="0" bIns="0">
            <a:spAutoFit/>
          </a:bodyPr>
          <a:lstStyle/>
          <a:p>
            <a:pPr algn="ctr">
              <a:lnSpc>
                <a:spcPct val="108000"/>
              </a:lnSpc>
              <a:spcAft>
                <a:spcPts val="400"/>
              </a:spcAft>
            </a:pPr>
            <a:r>
              <a:rPr sz="1350" b="1" i="0">
                <a:solidFill>
                  <a:srgbClr val="1A1A2E"/>
                </a:solidFill>
                <a:latin typeface="Calibri"/>
              </a:rPr>
              <a:t>Two contrastive sets
(condition A vs B)</a:t>
            </a:r>
          </a:p>
        </p:txBody>
      </p:sp>
      <p:sp>
        <p:nvSpPr>
          <p:cNvPr id="7" name="TextBox 6"/>
          <p:cNvSpPr txBox="1"/>
          <p:nvPr/>
        </p:nvSpPr>
        <p:spPr>
          <a:xfrm>
            <a:off x="4023360" y="1783080"/>
            <a:ext cx="320040" cy="1051560"/>
          </a:xfrm>
          <a:prstGeom prst="rect">
            <a:avLst/>
          </a:prstGeom>
          <a:noFill/>
        </p:spPr>
        <p:txBody>
          <a:bodyPr wrap="square" anchor="ctr" lIns="0" rIns="0" tIns="0" bIns="0">
            <a:spAutoFit/>
          </a:bodyPr>
          <a:lstStyle/>
          <a:p>
            <a:pPr algn="ctr">
              <a:spcAft>
                <a:spcPts val="400"/>
              </a:spcAft>
            </a:pPr>
            <a:r>
              <a:rPr sz="2200" b="1" i="0">
                <a:solidFill>
                  <a:srgbClr val="0072B2"/>
                </a:solidFill>
                <a:latin typeface="Calibri"/>
              </a:rPr>
              <a:t>→</a:t>
            </a:r>
          </a:p>
        </p:txBody>
      </p:sp>
      <p:sp>
        <p:nvSpPr>
          <p:cNvPr id="8" name="Rounded Rectangle 7"/>
          <p:cNvSpPr/>
          <p:nvPr/>
        </p:nvSpPr>
        <p:spPr>
          <a:xfrm>
            <a:off x="4343400" y="1783080"/>
            <a:ext cx="3383280" cy="10515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83080"/>
            <a:ext cx="3017520" cy="1051560"/>
          </a:xfrm>
          <a:prstGeom prst="rect">
            <a:avLst/>
          </a:prstGeom>
          <a:noFill/>
        </p:spPr>
        <p:txBody>
          <a:bodyPr wrap="square" anchor="ctr" lIns="0" rIns="0" tIns="0" bIns="0">
            <a:spAutoFit/>
          </a:bodyPr>
          <a:lstStyle/>
          <a:p>
            <a:pPr algn="ctr">
              <a:lnSpc>
                <a:spcPct val="108000"/>
              </a:lnSpc>
              <a:spcAft>
                <a:spcPts val="400"/>
              </a:spcAft>
            </a:pPr>
            <a:r>
              <a:rPr sz="1350" b="1" i="0">
                <a:solidFill>
                  <a:srgbClr val="1A1A2E"/>
                </a:solidFill>
                <a:latin typeface="Calibri"/>
              </a:rPr>
              <a:t>Last-token residual
at every layer</a:t>
            </a:r>
          </a:p>
        </p:txBody>
      </p:sp>
      <p:sp>
        <p:nvSpPr>
          <p:cNvPr id="10" name="TextBox 9"/>
          <p:cNvSpPr txBox="1"/>
          <p:nvPr/>
        </p:nvSpPr>
        <p:spPr>
          <a:xfrm>
            <a:off x="7726679" y="1783080"/>
            <a:ext cx="320040" cy="1051560"/>
          </a:xfrm>
          <a:prstGeom prst="rect">
            <a:avLst/>
          </a:prstGeom>
          <a:noFill/>
        </p:spPr>
        <p:txBody>
          <a:bodyPr wrap="square" anchor="ctr" lIns="0" rIns="0" tIns="0" bIns="0">
            <a:spAutoFit/>
          </a:bodyPr>
          <a:lstStyle/>
          <a:p>
            <a:pPr algn="ctr">
              <a:spcAft>
                <a:spcPts val="400"/>
              </a:spcAft>
            </a:pPr>
            <a:r>
              <a:rPr sz="2200" b="1" i="0">
                <a:solidFill>
                  <a:srgbClr val="0072B2"/>
                </a:solidFill>
                <a:latin typeface="Calibri"/>
              </a:rPr>
              <a:t>→</a:t>
            </a:r>
          </a:p>
        </p:txBody>
      </p:sp>
      <p:sp>
        <p:nvSpPr>
          <p:cNvPr id="11" name="Rounded Rectangle 10"/>
          <p:cNvSpPr/>
          <p:nvPr/>
        </p:nvSpPr>
        <p:spPr>
          <a:xfrm>
            <a:off x="8046720" y="1783080"/>
            <a:ext cx="3383280" cy="10515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783080"/>
            <a:ext cx="3017520" cy="1051560"/>
          </a:xfrm>
          <a:prstGeom prst="rect">
            <a:avLst/>
          </a:prstGeom>
          <a:noFill/>
        </p:spPr>
        <p:txBody>
          <a:bodyPr wrap="square" anchor="ctr" lIns="0" rIns="0" tIns="0" bIns="0">
            <a:spAutoFit/>
          </a:bodyPr>
          <a:lstStyle/>
          <a:p>
            <a:pPr algn="ctr">
              <a:lnSpc>
                <a:spcPct val="108000"/>
              </a:lnSpc>
              <a:spcAft>
                <a:spcPts val="400"/>
              </a:spcAft>
            </a:pPr>
            <a:r>
              <a:rPr sz="1350" b="1" i="0">
                <a:solidFill>
                  <a:srgbClr val="1A1A2E"/>
                </a:solidFill>
                <a:latin typeface="Calibri"/>
              </a:rPr>
              <a:t>normalize( mean_A − mean_B )
→ one direction per layer</a:t>
            </a:r>
          </a:p>
        </p:txBody>
      </p:sp>
      <p:sp>
        <p:nvSpPr>
          <p:cNvPr id="13" name="TextBox 12"/>
          <p:cNvSpPr txBox="1"/>
          <p:nvPr/>
        </p:nvSpPr>
        <p:spPr>
          <a:xfrm>
            <a:off x="640080" y="3154680"/>
            <a:ext cx="10972800" cy="365760"/>
          </a:xfrm>
          <a:prstGeom prst="rect">
            <a:avLst/>
          </a:prstGeom>
          <a:noFill/>
        </p:spPr>
        <p:txBody>
          <a:bodyPr wrap="square" anchor="t" lIns="0" rIns="0" tIns="0" bIns="0">
            <a:spAutoFit/>
          </a:bodyPr>
          <a:lstStyle/>
          <a:p>
            <a:pPr algn="l">
              <a:spcAft>
                <a:spcPts val="400"/>
              </a:spcAft>
            </a:pPr>
            <a:r>
              <a:rPr sz="1500" b="1" i="0">
                <a:solidFill>
                  <a:srgbClr val="6B7280"/>
                </a:solidFill>
                <a:latin typeface="Calibri"/>
              </a:rPr>
              <a:t>The same recipe builds all four directions:</a:t>
            </a:r>
          </a:p>
        </p:txBody>
      </p:sp>
      <p:sp>
        <p:nvSpPr>
          <p:cNvPr id="14" name="Rounded Rectangle 13"/>
          <p:cNvSpPr/>
          <p:nvPr/>
        </p:nvSpPr>
        <p:spPr>
          <a:xfrm>
            <a:off x="822960" y="3611880"/>
            <a:ext cx="2331720"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Image valence</a:t>
            </a:r>
          </a:p>
        </p:txBody>
      </p:sp>
      <p:sp>
        <p:nvSpPr>
          <p:cNvPr id="15" name="TextBox 14"/>
          <p:cNvSpPr txBox="1"/>
          <p:nvPr/>
        </p:nvSpPr>
        <p:spPr>
          <a:xfrm>
            <a:off x="3337560" y="3630168"/>
            <a:ext cx="8412480" cy="365760"/>
          </a:xfrm>
          <a:prstGeom prst="rect">
            <a:avLst/>
          </a:prstGeom>
          <a:noFill/>
        </p:spPr>
        <p:txBody>
          <a:bodyPr wrap="square" anchor="t" lIns="0" rIns="0" tIns="0" bIns="0">
            <a:spAutoFit/>
          </a:bodyPr>
          <a:lstStyle/>
          <a:p>
            <a:pPr algn="l">
              <a:spcAft>
                <a:spcPts val="400"/>
              </a:spcAft>
            </a:pPr>
            <a:r>
              <a:rPr sz="1350" b="0" i="0">
                <a:solidFill>
                  <a:srgbClr val="1A1A2E"/>
                </a:solidFill>
                <a:latin typeface="Calibri"/>
              </a:rPr>
              <a:t>distressing  vs  positive  images  (same describe prompt)</a:t>
            </a:r>
          </a:p>
        </p:txBody>
      </p:sp>
      <p:sp>
        <p:nvSpPr>
          <p:cNvPr id="16" name="Rounded Rectangle 15"/>
          <p:cNvSpPr/>
          <p:nvPr/>
        </p:nvSpPr>
        <p:spPr>
          <a:xfrm>
            <a:off x="822960" y="4087368"/>
            <a:ext cx="2331720"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Text valence</a:t>
            </a:r>
          </a:p>
        </p:txBody>
      </p:sp>
      <p:sp>
        <p:nvSpPr>
          <p:cNvPr id="17" name="TextBox 16"/>
          <p:cNvSpPr txBox="1"/>
          <p:nvPr/>
        </p:nvSpPr>
        <p:spPr>
          <a:xfrm>
            <a:off x="3337560" y="4105656"/>
            <a:ext cx="8412480" cy="365760"/>
          </a:xfrm>
          <a:prstGeom prst="rect">
            <a:avLst/>
          </a:prstGeom>
          <a:noFill/>
        </p:spPr>
        <p:txBody>
          <a:bodyPr wrap="square" anchor="t" lIns="0" rIns="0" tIns="0" bIns="0">
            <a:spAutoFit/>
          </a:bodyPr>
          <a:lstStyle/>
          <a:p>
            <a:pPr algn="l">
              <a:spcAft>
                <a:spcPts val="400"/>
              </a:spcAft>
            </a:pPr>
            <a:r>
              <a:rPr sz="1350" b="0" i="0">
                <a:solidFill>
                  <a:srgbClr val="1A1A2E"/>
                </a:solidFill>
                <a:latin typeface="Calibri"/>
              </a:rPr>
              <a:t>negative  vs  positive  sentences</a:t>
            </a:r>
          </a:p>
        </p:txBody>
      </p:sp>
      <p:sp>
        <p:nvSpPr>
          <p:cNvPr id="18" name="Rounded Rectangle 17"/>
          <p:cNvSpPr/>
          <p:nvPr/>
        </p:nvSpPr>
        <p:spPr>
          <a:xfrm>
            <a:off x="822960" y="4562856"/>
            <a:ext cx="2331720" cy="310896"/>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Text emotion</a:t>
            </a:r>
          </a:p>
        </p:txBody>
      </p:sp>
      <p:sp>
        <p:nvSpPr>
          <p:cNvPr id="19" name="TextBox 18"/>
          <p:cNvSpPr txBox="1"/>
          <p:nvPr/>
        </p:nvSpPr>
        <p:spPr>
          <a:xfrm>
            <a:off x="3337560" y="4581144"/>
            <a:ext cx="8412480" cy="365760"/>
          </a:xfrm>
          <a:prstGeom prst="rect">
            <a:avLst/>
          </a:prstGeom>
          <a:noFill/>
        </p:spPr>
        <p:txBody>
          <a:bodyPr wrap="square" anchor="t" lIns="0" rIns="0" tIns="0" bIns="0">
            <a:spAutoFit/>
          </a:bodyPr>
          <a:lstStyle/>
          <a:p>
            <a:pPr algn="l">
              <a:spcAft>
                <a:spcPts val="400"/>
              </a:spcAft>
            </a:pPr>
            <a:r>
              <a:rPr sz="1350" b="0" i="0">
                <a:solidFill>
                  <a:srgbClr val="1A1A2E"/>
                </a:solidFill>
                <a:latin typeface="Calibri"/>
              </a:rPr>
              <a:t>emotion stories  vs  neutral  (desperation, fear, …)</a:t>
            </a:r>
          </a:p>
        </p:txBody>
      </p:sp>
      <p:sp>
        <p:nvSpPr>
          <p:cNvPr id="20" name="Rounded Rectangle 19"/>
          <p:cNvSpPr/>
          <p:nvPr/>
        </p:nvSpPr>
        <p:spPr>
          <a:xfrm>
            <a:off x="822960" y="5038344"/>
            <a:ext cx="2331720" cy="310896"/>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Refusal  r</a:t>
            </a:r>
          </a:p>
        </p:txBody>
      </p:sp>
      <p:sp>
        <p:nvSpPr>
          <p:cNvPr id="21" name="TextBox 20"/>
          <p:cNvSpPr txBox="1"/>
          <p:nvPr/>
        </p:nvSpPr>
        <p:spPr>
          <a:xfrm>
            <a:off x="3337560" y="5056631"/>
            <a:ext cx="8412480" cy="365760"/>
          </a:xfrm>
          <a:prstGeom prst="rect">
            <a:avLst/>
          </a:prstGeom>
          <a:noFill/>
        </p:spPr>
        <p:txBody>
          <a:bodyPr wrap="square" anchor="t" lIns="0" rIns="0" tIns="0" bIns="0">
            <a:spAutoFit/>
          </a:bodyPr>
          <a:lstStyle/>
          <a:p>
            <a:pPr algn="l">
              <a:spcAft>
                <a:spcPts val="400"/>
              </a:spcAft>
            </a:pPr>
            <a:r>
              <a:rPr sz="1350" b="0" i="0">
                <a:solidFill>
                  <a:srgbClr val="1A1A2E"/>
                </a:solidFill>
                <a:latin typeface="Calibri"/>
              </a:rPr>
              <a:t>harmful  vs  harmless  prompts</a:t>
            </a:r>
          </a:p>
        </p:txBody>
      </p:sp>
      <p:sp>
        <p:nvSpPr>
          <p:cNvPr id="22" name="TextBox 21"/>
          <p:cNvSpPr txBox="1"/>
          <p:nvPr/>
        </p:nvSpPr>
        <p:spPr>
          <a:xfrm>
            <a:off x="640080" y="5806440"/>
            <a:ext cx="11155680" cy="548640"/>
          </a:xfrm>
          <a:prstGeom prst="rect">
            <a:avLst/>
          </a:prstGeom>
          <a:noFill/>
        </p:spPr>
        <p:txBody>
          <a:bodyPr wrap="square" anchor="t" lIns="0" rIns="0" tIns="0" bIns="0">
            <a:spAutoFit/>
          </a:bodyPr>
          <a:lstStyle/>
          <a:p>
            <a:pPr algn="l">
              <a:lnSpc>
                <a:spcPct val="105000"/>
              </a:lnSpc>
              <a:spcAft>
                <a:spcPts val="400"/>
              </a:spcAft>
            </a:pPr>
            <a:r>
              <a:rPr sz="1100" b="0" i="0">
                <a:solidFill>
                  <a:srgbClr val="6B7280"/>
                </a:solidFill>
                <a:latin typeface="Calibri"/>
              </a:rPr>
              <a:t>OASIS valence tertiles for images · residual taken at the last token, kept per layer · axis reproducibility checked by split-half cosine (a_stability).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3529584"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METHOD 2 · MEASURING CHANGE</a:t>
            </a:r>
          </a:p>
        </p:txBody>
      </p:sp>
      <p:sp>
        <p:nvSpPr>
          <p:cNvPr id="4" name="TextBox 3"/>
          <p:cNvSpPr txBox="1"/>
          <p:nvPr/>
        </p:nvSpPr>
        <p:spPr>
          <a:xfrm>
            <a:off x="621792" y="822960"/>
            <a:ext cx="11155680" cy="822960"/>
          </a:xfrm>
          <a:prstGeom prst="rect">
            <a:avLst/>
          </a:prstGeom>
          <a:noFill/>
        </p:spPr>
        <p:txBody>
          <a:bodyPr wrap="square" anchor="t" lIns="0" rIns="0" tIns="0" bIns="0">
            <a:spAutoFit/>
          </a:bodyPr>
          <a:lstStyle/>
          <a:p>
            <a:pPr algn="l">
              <a:spcAft>
                <a:spcPts val="400"/>
              </a:spcAft>
            </a:pPr>
            <a:r>
              <a:rPr sz="2800" b="1" i="0">
                <a:solidFill>
                  <a:srgbClr val="1E2761"/>
                </a:solidFill>
                <a:latin typeface="Cambria"/>
              </a:rPr>
              <a:t>Measuring change — two families</a:t>
            </a:r>
          </a:p>
        </p:txBody>
      </p:sp>
      <p:sp>
        <p:nvSpPr>
          <p:cNvPr id="5" name="Rounded Rectangle 4"/>
          <p:cNvSpPr/>
          <p:nvPr/>
        </p:nvSpPr>
        <p:spPr>
          <a:xfrm>
            <a:off x="640080" y="1783080"/>
            <a:ext cx="5349240" cy="338328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4005072" cy="310896"/>
          </a:xfrm>
          <a:prstGeom prst="roundRect">
            <a:avLst>
              <a:gd name="adj" fmla="val 50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A · REPRESENTATIONAL (geometry)</a:t>
            </a:r>
          </a:p>
        </p:txBody>
      </p:sp>
      <p:sp>
        <p:nvSpPr>
          <p:cNvPr id="7" name="TextBox 6"/>
          <p:cNvSpPr txBox="1"/>
          <p:nvPr/>
        </p:nvSpPr>
        <p:spPr>
          <a:xfrm>
            <a:off x="914400" y="2560320"/>
            <a:ext cx="4846320" cy="2468880"/>
          </a:xfrm>
          <a:prstGeom prst="rect">
            <a:avLst/>
          </a:prstGeom>
          <a:noFill/>
        </p:spPr>
        <p:txBody>
          <a:bodyPr wrap="square" anchor="t" lIns="0" rIns="0" tIns="0" bIns="0">
            <a:spAutoFit/>
          </a:bodyPr>
          <a:lstStyle/>
          <a:p>
            <a:pPr algn="l">
              <a:lnSpc>
                <a:spcPct val="110000"/>
              </a:lnSpc>
              <a:spcAft>
                <a:spcPts val="800"/>
              </a:spcAft>
            </a:pPr>
            <a:r>
              <a:rPr sz="1400" b="1" i="0">
                <a:solidFill>
                  <a:srgbClr val="1A1A2E"/>
                </a:solidFill>
                <a:latin typeface="Calibri"/>
              </a:rPr>
              <a:t>Alignment:</a:t>
            </a:r>
            <a:r>
              <a:rPr sz="1400" b="0" i="0">
                <a:solidFill>
                  <a:srgbClr val="1A1A2E"/>
                </a:solidFill>
                <a:latin typeface="Calibri"/>
              </a:rPr>
              <a:t> per-layer cosine between two directions (e.g. text-desperation vs image-valence = 0.37).</a:t>
            </a:r>
          </a:p>
          <a:p>
            <a:pPr algn="l">
              <a:lnSpc>
                <a:spcPct val="110000"/>
              </a:lnSpc>
              <a:spcAft>
                <a:spcPts val="1000"/>
              </a:spcAft>
            </a:pPr>
            <a:r>
              <a:rPr sz="1400" b="1" i="0">
                <a:solidFill>
                  <a:srgbClr val="1A1A2E"/>
                </a:solidFill>
                <a:latin typeface="Calibri"/>
              </a:rPr>
              <a:t>Evocation:</a:t>
            </a:r>
            <a:r>
              <a:rPr sz="1400" b="0" i="0">
                <a:solidFill>
                  <a:srgbClr val="1A1A2E"/>
                </a:solidFill>
                <a:latin typeface="Calibri"/>
              </a:rPr>
              <a:t> projection (dot product) of an activation onto a direction — distress vs positive image.</a:t>
            </a:r>
          </a:p>
          <a:p>
            <a:pPr algn="l">
              <a:spcAft>
                <a:spcPts val="400"/>
              </a:spcAft>
            </a:pPr>
            <a:r>
              <a:rPr sz="1350" b="1" i="0">
                <a:solidFill>
                  <a:srgbClr val="009E73"/>
                </a:solidFill>
                <a:latin typeface="Calibri"/>
              </a:rPr>
              <a:t>Cosine appears ONLY here.</a:t>
            </a:r>
          </a:p>
        </p:txBody>
      </p:sp>
      <p:sp>
        <p:nvSpPr>
          <p:cNvPr id="8" name="Rounded Rectangle 7"/>
          <p:cNvSpPr/>
          <p:nvPr/>
        </p:nvSpPr>
        <p:spPr>
          <a:xfrm>
            <a:off x="6172200" y="1783080"/>
            <a:ext cx="5349240" cy="338328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46520" y="2011680"/>
            <a:ext cx="4361688"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B · BEHAVIORAL (first-token logit)</a:t>
            </a:r>
          </a:p>
        </p:txBody>
      </p:sp>
      <p:sp>
        <p:nvSpPr>
          <p:cNvPr id="10" name="TextBox 9"/>
          <p:cNvSpPr txBox="1"/>
          <p:nvPr/>
        </p:nvSpPr>
        <p:spPr>
          <a:xfrm>
            <a:off x="6446520" y="2560320"/>
            <a:ext cx="4846320" cy="2468880"/>
          </a:xfrm>
          <a:prstGeom prst="rect">
            <a:avLst/>
          </a:prstGeom>
          <a:noFill/>
        </p:spPr>
        <p:txBody>
          <a:bodyPr wrap="square" anchor="t" lIns="0" rIns="0" tIns="0" bIns="0">
            <a:spAutoFit/>
          </a:bodyPr>
          <a:lstStyle/>
          <a:p>
            <a:pPr algn="l">
              <a:spcAft>
                <a:spcPts val="600"/>
              </a:spcAft>
            </a:pPr>
            <a:r>
              <a:rPr sz="1350" b="1" i="0">
                <a:solidFill>
                  <a:srgbClr val="1E2761"/>
                </a:solidFill>
                <a:latin typeface="Consolas"/>
              </a:rPr>
              <a:t>score = logsumexp(A) − logsumexp(B)</a:t>
            </a:r>
          </a:p>
          <a:p>
            <a:pPr algn="l">
              <a:lnSpc>
                <a:spcPct val="110000"/>
              </a:lnSpc>
              <a:spcAft>
                <a:spcPts val="800"/>
              </a:spcAft>
            </a:pPr>
            <a:r>
              <a:rPr sz="1400" b="0" i="0">
                <a:solidFill>
                  <a:srgbClr val="1A1A2E"/>
                </a:solidFill>
                <a:latin typeface="Calibri"/>
              </a:rPr>
              <a:t>log-odds of answer-family A over B at the first token — generation-free.</a:t>
            </a:r>
          </a:p>
          <a:p>
            <a:pPr algn="l">
              <a:lnSpc>
                <a:spcPct val="110000"/>
              </a:lnSpc>
              <a:spcAft>
                <a:spcPts val="800"/>
              </a:spcAft>
            </a:pPr>
            <a:r>
              <a:rPr sz="1400" b="1" i="0">
                <a:solidFill>
                  <a:srgbClr val="1A1A2E"/>
                </a:solidFill>
                <a:latin typeface="Calibri"/>
              </a:rPr>
              <a:t>Refusal</a:t>
            </a:r>
            <a:r>
              <a:rPr sz="1400" b="0" i="0">
                <a:solidFill>
                  <a:srgbClr val="1A1A2E"/>
                </a:solidFill>
                <a:latin typeface="Calibri"/>
              </a:rPr>
              <a:t> = refuse-vs-comply tokens; rate = fraction &gt; 0.</a:t>
            </a:r>
          </a:p>
          <a:p>
            <a:pPr algn="l">
              <a:lnSpc>
                <a:spcPct val="110000"/>
              </a:lnSpc>
              <a:spcAft>
                <a:spcPts val="400"/>
              </a:spcAft>
            </a:pPr>
            <a:r>
              <a:rPr sz="1400" b="0" i="0">
                <a:solidFill>
                  <a:srgbClr val="1A1A2E"/>
                </a:solidFill>
                <a:latin typeface="Calibri"/>
              </a:rPr>
              <a:t>Δ measured under image/text swap, steering (±α), and controls.</a:t>
            </a:r>
          </a:p>
        </p:txBody>
      </p:sp>
      <p:sp>
        <p:nvSpPr>
          <p:cNvPr id="11" name="Rounded Rectangle 10"/>
          <p:cNvSpPr/>
          <p:nvPr/>
        </p:nvSpPr>
        <p:spPr>
          <a:xfrm>
            <a:off x="640080" y="5349240"/>
            <a:ext cx="10881360" cy="91440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5349240"/>
            <a:ext cx="10515600" cy="914400"/>
          </a:xfrm>
          <a:prstGeom prst="rect">
            <a:avLst/>
          </a:prstGeom>
          <a:noFill/>
        </p:spPr>
        <p:txBody>
          <a:bodyPr wrap="square" anchor="ctr" lIns="0" rIns="0" tIns="0" bIns="0">
            <a:spAutoFit/>
          </a:bodyPr>
          <a:lstStyle/>
          <a:p>
            <a:pPr algn="ctr">
              <a:spcAft>
                <a:spcPts val="400"/>
              </a:spcAft>
            </a:pPr>
            <a:r>
              <a:rPr sz="1350" b="1" i="0">
                <a:solidFill>
                  <a:srgbClr val="FFFFFF"/>
                </a:solidFill>
                <a:latin typeface="Calibri"/>
              </a:rPr>
              <a:t>Cosine is only for aligning two vectors. All behavior — including refusal — is a difference of first-token log-probabilities. No text generated, no judge.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411480"/>
            <a:ext cx="2578608"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METHOD 3 · STEERING</a:t>
            </a:r>
          </a:p>
        </p:txBody>
      </p:sp>
      <p:sp>
        <p:nvSpPr>
          <p:cNvPr id="4" name="TextBox 3"/>
          <p:cNvSpPr txBox="1"/>
          <p:nvPr/>
        </p:nvSpPr>
        <p:spPr>
          <a:xfrm>
            <a:off x="621792" y="822960"/>
            <a:ext cx="11155680" cy="822960"/>
          </a:xfrm>
          <a:prstGeom prst="rect">
            <a:avLst/>
          </a:prstGeom>
          <a:noFill/>
        </p:spPr>
        <p:txBody>
          <a:bodyPr wrap="square" anchor="t" lIns="0" rIns="0" tIns="0" bIns="0">
            <a:spAutoFit/>
          </a:bodyPr>
          <a:lstStyle/>
          <a:p>
            <a:pPr algn="l">
              <a:spcAft>
                <a:spcPts val="400"/>
              </a:spcAft>
            </a:pPr>
            <a:r>
              <a:rPr sz="2800" b="1" i="0">
                <a:solidFill>
                  <a:srgbClr val="1E2761"/>
                </a:solidFill>
                <a:latin typeface="Cambria"/>
              </a:rPr>
              <a:t>The steering scaling factor  α</a:t>
            </a:r>
          </a:p>
        </p:txBody>
      </p:sp>
      <p:sp>
        <p:nvSpPr>
          <p:cNvPr id="5" name="Rounded Rectangle 4"/>
          <p:cNvSpPr/>
          <p:nvPr/>
        </p:nvSpPr>
        <p:spPr>
          <a:xfrm>
            <a:off x="640080" y="1737360"/>
            <a:ext cx="10881360" cy="86868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37360"/>
            <a:ext cx="10515600" cy="868680"/>
          </a:xfrm>
          <a:prstGeom prst="rect">
            <a:avLst/>
          </a:prstGeom>
          <a:noFill/>
        </p:spPr>
        <p:txBody>
          <a:bodyPr wrap="square" anchor="ctr" lIns="0" rIns="0" tIns="0" bIns="0">
            <a:spAutoFit/>
          </a:bodyPr>
          <a:lstStyle/>
          <a:p>
            <a:pPr algn="ctr">
              <a:spcAft>
                <a:spcPts val="400"/>
              </a:spcAft>
            </a:pPr>
            <a:r>
              <a:rPr sz="1700" b="1" i="0">
                <a:solidFill>
                  <a:srgbClr val="1E2761"/>
                </a:solidFill>
                <a:latin typeface="Consolas"/>
              </a:rPr>
              <a:t>Δ  =  α  ×  ||resid||  ×  â        added to resid_post at every layer</a:t>
            </a:r>
          </a:p>
        </p:txBody>
      </p:sp>
      <p:sp>
        <p:nvSpPr>
          <p:cNvPr id="7" name="Rounded Rectangle 6"/>
          <p:cNvSpPr/>
          <p:nvPr/>
        </p:nvSpPr>
        <p:spPr>
          <a:xfrm>
            <a:off x="640080" y="2834640"/>
            <a:ext cx="5349240" cy="26517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3063240"/>
            <a:ext cx="3172968" cy="310896"/>
          </a:xfrm>
          <a:prstGeom prst="roundRect">
            <a:avLst>
              <a:gd name="adj" fmla="val 50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WHY SCALE TO ||resid|| ?</a:t>
            </a:r>
          </a:p>
        </p:txBody>
      </p:sp>
      <p:sp>
        <p:nvSpPr>
          <p:cNvPr id="9" name="TextBox 8"/>
          <p:cNvSpPr txBox="1"/>
          <p:nvPr/>
        </p:nvSpPr>
        <p:spPr>
          <a:xfrm>
            <a:off x="914400" y="3611880"/>
            <a:ext cx="4846320" cy="1828800"/>
          </a:xfrm>
          <a:prstGeom prst="rect">
            <a:avLst/>
          </a:prstGeom>
          <a:noFill/>
        </p:spPr>
        <p:txBody>
          <a:bodyPr wrap="square" anchor="t" lIns="0" rIns="0" tIns="0" bIns="0">
            <a:spAutoFit/>
          </a:bodyPr>
          <a:lstStyle/>
          <a:p>
            <a:pPr algn="l">
              <a:lnSpc>
                <a:spcPct val="112000"/>
              </a:lnSpc>
              <a:spcAft>
                <a:spcPts val="800"/>
              </a:spcAft>
            </a:pPr>
            <a:r>
              <a:rPr sz="1400" b="0" i="0">
                <a:solidFill>
                  <a:srgbClr val="1A1A2E"/>
                </a:solidFill>
                <a:latin typeface="Calibri"/>
              </a:rPr>
              <a:t>The residual norm grows hugely with depth, so α is a </a:t>
            </a:r>
            <a:r>
              <a:rPr sz="1400" b="1" i="0">
                <a:solidFill>
                  <a:srgbClr val="1A1A2E"/>
                </a:solidFill>
                <a:latin typeface="Calibri"/>
              </a:rPr>
              <a:t>fraction of the local residual scale</a:t>
            </a:r>
            <a:r>
              <a:rPr sz="1400" b="0" i="0">
                <a:solidFill>
                  <a:srgbClr val="1A1A2E"/>
                </a:solidFill>
                <a:latin typeface="Calibri"/>
              </a:rPr>
              <a:t>, not an absolute size.</a:t>
            </a:r>
          </a:p>
          <a:p>
            <a:pPr algn="l">
              <a:lnSpc>
                <a:spcPct val="112000"/>
              </a:lnSpc>
              <a:spcAft>
                <a:spcPts val="800"/>
              </a:spcAft>
            </a:pPr>
            <a:r>
              <a:rPr sz="1400" b="1" i="0">
                <a:solidFill>
                  <a:srgbClr val="1E2761"/>
                </a:solidFill>
                <a:latin typeface="Calibri"/>
              </a:rPr>
              <a:t>α = 0.01  →  add 1% of the local residual magnitude along â.</a:t>
            </a:r>
          </a:p>
          <a:p>
            <a:pPr algn="l">
              <a:lnSpc>
                <a:spcPct val="110000"/>
              </a:lnSpc>
              <a:spcAft>
                <a:spcPts val="400"/>
              </a:spcAft>
            </a:pPr>
            <a:r>
              <a:rPr sz="1350" b="0" i="0">
                <a:solidFill>
                  <a:srgbClr val="6B7280"/>
                </a:solidFill>
                <a:latin typeface="Calibri"/>
              </a:rPr>
              <a:t>Dimensionless → comparable across layers and models.</a:t>
            </a:r>
          </a:p>
        </p:txBody>
      </p:sp>
      <p:sp>
        <p:nvSpPr>
          <p:cNvPr id="10" name="Rounded Rectangle 9"/>
          <p:cNvSpPr/>
          <p:nvPr/>
        </p:nvSpPr>
        <p:spPr>
          <a:xfrm>
            <a:off x="6172200" y="2834640"/>
            <a:ext cx="5349240" cy="2651760"/>
          </a:xfrm>
          <a:prstGeom prst="roundRect">
            <a:avLst>
              <a:gd name="adj" fmla="val 8000"/>
            </a:avLst>
          </a:prstGeom>
          <a:solidFill>
            <a:srgbClr val="F2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46520" y="3063240"/>
            <a:ext cx="3529584" cy="310896"/>
          </a:xfrm>
          <a:prstGeom prst="roundRect">
            <a:avLst>
              <a:gd name="adj" fmla="val 50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2296" rIns="82296" tIns="0" bIns="0"/>
          <a:lstStyle/>
          <a:p>
            <a:pPr algn="ctr"/>
            <a:r>
              <a:rPr sz="1100" b="1">
                <a:solidFill>
                  <a:srgbClr val="FFFFFF"/>
                </a:solidFill>
                <a:latin typeface="Calibri"/>
              </a:rPr>
              <a:t>WHAT α DOES (dose-response)</a:t>
            </a:r>
          </a:p>
        </p:txBody>
      </p:sp>
      <p:sp>
        <p:nvSpPr>
          <p:cNvPr id="12" name="TextBox 11"/>
          <p:cNvSpPr txBox="1"/>
          <p:nvPr/>
        </p:nvSpPr>
        <p:spPr>
          <a:xfrm>
            <a:off x="6446520" y="3611880"/>
            <a:ext cx="4846320" cy="1828800"/>
          </a:xfrm>
          <a:prstGeom prst="rect">
            <a:avLst/>
          </a:prstGeom>
          <a:noFill/>
        </p:spPr>
        <p:txBody>
          <a:bodyPr wrap="square" anchor="t" lIns="0" rIns="0" tIns="0" bIns="0">
            <a:spAutoFit/>
          </a:bodyPr>
          <a:lstStyle/>
          <a:p>
            <a:pPr algn="l">
              <a:lnSpc>
                <a:spcPct val="110000"/>
              </a:lnSpc>
              <a:spcAft>
                <a:spcPts val="600"/>
              </a:spcAft>
            </a:pPr>
            <a:r>
              <a:rPr sz="1400" b="1" i="0">
                <a:solidFill>
                  <a:srgbClr val="1A1A2E"/>
                </a:solidFill>
                <a:latin typeface="Calibri"/>
              </a:rPr>
              <a:t>small (≤0.006):</a:t>
            </a:r>
            <a:r>
              <a:rPr sz="1400" b="0" i="0">
                <a:solidFill>
                  <a:srgbClr val="1A1A2E"/>
                </a:solidFill>
                <a:latin typeface="Calibri"/>
              </a:rPr>
              <a:t> gentle tilt, output intact.</a:t>
            </a:r>
          </a:p>
          <a:p>
            <a:pPr algn="l">
              <a:lnSpc>
                <a:spcPct val="110000"/>
              </a:lnSpc>
              <a:spcAft>
                <a:spcPts val="600"/>
              </a:spcAft>
            </a:pPr>
            <a:r>
              <a:rPr sz="1400" b="1" i="0">
                <a:solidFill>
                  <a:srgbClr val="1A1A2E"/>
                </a:solidFill>
                <a:latin typeface="Calibri"/>
              </a:rPr>
              <a:t>0.008–0.012:</a:t>
            </a:r>
            <a:r>
              <a:rPr sz="1400" b="0" i="0">
                <a:solidFill>
                  <a:srgbClr val="1A1A2E"/>
                </a:solidFill>
                <a:latin typeface="Calibri"/>
              </a:rPr>
              <a:t> flips refusal / behavior, still coherent.</a:t>
            </a:r>
          </a:p>
          <a:p>
            <a:pPr algn="l">
              <a:lnSpc>
                <a:spcPct val="110000"/>
              </a:lnSpc>
              <a:spcAft>
                <a:spcPts val="400"/>
              </a:spcAft>
            </a:pPr>
            <a:r>
              <a:rPr sz="1400" b="1" i="0">
                <a:solidFill>
                  <a:srgbClr val="D55E00"/>
                </a:solidFill>
                <a:latin typeface="Calibri"/>
              </a:rPr>
              <a:t>&gt;0.016:</a:t>
            </a:r>
            <a:r>
              <a:rPr sz="1400" b="0" i="0">
                <a:solidFill>
                  <a:srgbClr val="1A1A2E"/>
                </a:solidFill>
                <a:latin typeface="Calibri"/>
              </a:rPr>
              <a:t> swamps computation → incoherent (gated out).</a:t>
            </a:r>
          </a:p>
        </p:txBody>
      </p:sp>
      <p:sp>
        <p:nvSpPr>
          <p:cNvPr id="13" name="TextBox 12"/>
          <p:cNvSpPr txBox="1"/>
          <p:nvPr/>
        </p:nvSpPr>
        <p:spPr>
          <a:xfrm>
            <a:off x="640080" y="5715000"/>
            <a:ext cx="11155680" cy="548640"/>
          </a:xfrm>
          <a:prstGeom prst="rect">
            <a:avLst/>
          </a:prstGeom>
          <a:noFill/>
        </p:spPr>
        <p:txBody>
          <a:bodyPr wrap="square" anchor="t" lIns="0" rIns="0" tIns="0" bIns="0">
            <a:spAutoFit/>
          </a:bodyPr>
          <a:lstStyle/>
          <a:p>
            <a:pPr algn="l">
              <a:lnSpc>
                <a:spcPct val="105000"/>
              </a:lnSpc>
              <a:spcAft>
                <a:spcPts val="400"/>
              </a:spcAft>
            </a:pPr>
            <a:r>
              <a:rPr sz="1100" b="0" i="0">
                <a:solidFill>
                  <a:srgbClr val="6B7280"/>
                </a:solidFill>
                <a:latin typeface="Calibri"/>
              </a:rPr>
              <a:t>||resid|| includes the massive-activation dims — which is why the causal effect surviving their removal (Fig 2) rules out a scaling artifact.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