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304.11111" TargetMode="External"/><Relationship Id="rId3" Type="http://schemas.openxmlformats.org/officeDocument/2006/relationships/hyperlink" Target="https://arxiv.org/abs/2206.14576" TargetMode="External"/><Relationship Id="rId4" Type="http://schemas.openxmlformats.org/officeDocument/2006/relationships/hyperlink" Target="https://arxiv.org/abs/2208.10264" TargetMode="External"/><Relationship Id="rId5" Type="http://schemas.openxmlformats.org/officeDocument/2006/relationships/hyperlink" Target="https://arxiv.org/abs/2406.11717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3895344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FUTURE DIRECTIONS · METHODS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2400" b="1" i="0">
                <a:solidFill>
                  <a:srgbClr val="1E2761"/>
                </a:solidFill>
                <a:latin typeface="Cambria"/>
              </a:rPr>
              <a:t>Affect-specific behavior probes — does the VLM track emotion appraisals, not just valence?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72768"/>
            <a:ext cx="11091672" cy="713232"/>
          </a:xfrm>
          <a:prstGeom prst="roundRect">
            <a:avLst>
              <a:gd name="adj" fmla="val 3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64208"/>
            <a:ext cx="10698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1200" b="1" i="0">
                <a:solidFill>
                  <a:srgbClr val="1A1A2E"/>
                </a:solidFill>
                <a:latin typeface="Calibri"/>
              </a:rPr>
              <a:t>Method (every probe): </a:t>
            </a:r>
            <a:r>
              <a:rPr sz="1200" b="0" i="0">
                <a:solidFill>
                  <a:srgbClr val="1A1A2E"/>
                </a:solidFill>
                <a:latin typeface="Calibri"/>
              </a:rPr>
              <a:t>emotion vector via diff-in-means → steer / text-prime → first-token option-logit → causal mediation.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1200" b="1" i="0">
                <a:solidFill>
                  <a:srgbClr val="1A1A2E"/>
                </a:solidFill>
                <a:latin typeface="Calibri"/>
              </a:rPr>
              <a:t>Libraries (code-backed): </a:t>
            </a:r>
            <a:r>
              <a:rPr sz="1200" b="0" i="0">
                <a:solidFill>
                  <a:srgbClr val="1A1A2E"/>
                </a:solidFill>
                <a:latin typeface="Calibri"/>
              </a:rPr>
              <a:t>TransformerLens · pyvene · steering-vectors · scikit-learn.   Readout = log-odds of answer A vs B, generation-free.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50592"/>
            <a:ext cx="5532120" cy="3675887"/>
          </a:xfrm>
          <a:prstGeom prst="roundRect">
            <a:avLst>
              <a:gd name="adj" fmla="val 3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651760"/>
            <a:ext cx="4096511" cy="292608"/>
          </a:xfrm>
          <a:prstGeom prst="roundRect">
            <a:avLst>
              <a:gd name="adj" fmla="val 50000"/>
            </a:avLst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FUTURE PROBES  (appraisal specificity)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127248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1150" b="1" i="0">
                <a:solidFill>
                  <a:srgbClr val="1E2761"/>
                </a:solidFill>
                <a:latin typeface="Calibri"/>
              </a:rPr>
              <a:t>Specificity — same valence, different behavior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419856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1100" b="0" i="0">
                <a:solidFill>
                  <a:srgbClr val="1A1A2E"/>
                </a:solidFill>
                <a:latin typeface="Calibri"/>
              </a:rPr>
              <a:t>• Fear vs anger → risk (opposite)  </a:t>
            </a:r>
            <a:r>
              <a:rPr sz="950" b="0" i="1">
                <a:solidFill>
                  <a:srgbClr val="6B7280"/>
                </a:solidFill>
                <a:latin typeface="Calibri"/>
              </a:rPr>
              <a:t>[Lerner &amp; Keltner 2001]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659428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1100" b="0" i="0">
                <a:solidFill>
                  <a:srgbClr val="1A1A2E"/>
                </a:solidFill>
                <a:latin typeface="Calibri"/>
              </a:rPr>
              <a:t>• Sad vs anxious → risk / reward  </a:t>
            </a:r>
            <a:r>
              <a:rPr sz="950" b="0" i="1">
                <a:solidFill>
                  <a:srgbClr val="6B7280"/>
                </a:solidFill>
                <a:latin typeface="Calibri"/>
              </a:rPr>
              <a:t>[Raghunathan &amp; Pham 1999]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899001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1100" b="0" i="0">
                <a:solidFill>
                  <a:srgbClr val="1A1A2E"/>
                </a:solidFill>
                <a:latin typeface="Calibri"/>
              </a:rPr>
              <a:t>• Sad vs anger → attribution  </a:t>
            </a:r>
            <a:r>
              <a:rPr sz="950" b="0" i="1">
                <a:solidFill>
                  <a:srgbClr val="6B7280"/>
                </a:solidFill>
                <a:latin typeface="Calibri"/>
              </a:rPr>
              <a:t>[Keltner et al. 1993]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184294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1150" b="1" i="0">
                <a:solidFill>
                  <a:srgbClr val="1E2761"/>
                </a:solidFill>
                <a:latin typeface="Calibri"/>
              </a:rPr>
              <a:t>Emotion-specific decisions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476902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1100" b="0" i="0">
                <a:solidFill>
                  <a:srgbClr val="1A1A2E"/>
                </a:solidFill>
                <a:latin typeface="Calibri"/>
              </a:rPr>
              <a:t>• Sadness → impatience  </a:t>
            </a:r>
            <a:r>
              <a:rPr sz="950" b="0" i="1">
                <a:solidFill>
                  <a:srgbClr val="6B7280"/>
                </a:solidFill>
                <a:latin typeface="Calibri"/>
              </a:rPr>
              <a:t>[Lerner, Li &amp; Weber 2013]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716475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1100" b="0" i="0">
                <a:solidFill>
                  <a:srgbClr val="1A1A2E"/>
                </a:solidFill>
                <a:latin typeface="Calibri"/>
              </a:rPr>
              <a:t>• Sadness → valuation (buy/sell)  </a:t>
            </a:r>
            <a:r>
              <a:rPr sz="950" b="0" i="1">
                <a:solidFill>
                  <a:srgbClr val="6B7280"/>
                </a:solidFill>
                <a:latin typeface="Calibri"/>
              </a:rPr>
              <a:t>[Lerner et al. 2004]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4956048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1100" b="0" i="0">
                <a:solidFill>
                  <a:srgbClr val="1A1A2E"/>
                </a:solidFill>
                <a:latin typeface="Calibri"/>
              </a:rPr>
              <a:t>• Anger → punitiveness  </a:t>
            </a:r>
            <a:r>
              <a:rPr sz="950" b="0" i="1">
                <a:solidFill>
                  <a:srgbClr val="6B7280"/>
                </a:solidFill>
                <a:latin typeface="Calibri"/>
              </a:rPr>
              <a:t>[Lerner et al. 1998]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195620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1100" b="0" i="0">
                <a:solidFill>
                  <a:srgbClr val="1A1A2E"/>
                </a:solidFill>
                <a:latin typeface="Calibri"/>
              </a:rPr>
              <a:t>• Affect → generalized risk  </a:t>
            </a:r>
            <a:r>
              <a:rPr sz="950" b="0" i="1">
                <a:solidFill>
                  <a:srgbClr val="6B7280"/>
                </a:solidFill>
                <a:latin typeface="Calibri"/>
              </a:rPr>
              <a:t>[Johnson &amp; Tversky 1983]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5480913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1150" b="1" i="0">
                <a:solidFill>
                  <a:srgbClr val="1E2761"/>
                </a:solidFill>
                <a:latin typeface="Calibri"/>
              </a:rPr>
              <a:t>Moral / social emotions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5773521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1100" b="0" i="0">
                <a:solidFill>
                  <a:srgbClr val="1A1A2E"/>
                </a:solidFill>
                <a:latin typeface="Calibri"/>
              </a:rPr>
              <a:t>• Trust · Fairness / ultimatum  </a:t>
            </a:r>
            <a:r>
              <a:rPr sz="950" b="0" i="1">
                <a:solidFill>
                  <a:srgbClr val="6B7280"/>
                </a:solidFill>
                <a:latin typeface="Calibri"/>
              </a:rPr>
              <a:t>[Dunn 2005 · Harlé 2007]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6013094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1100" b="0" i="0">
                <a:solidFill>
                  <a:srgbClr val="1A1A2E"/>
                </a:solidFill>
                <a:latin typeface="Calibri"/>
              </a:rPr>
              <a:t>• Gratitude · Guilt  </a:t>
            </a:r>
            <a:r>
              <a:rPr sz="950" b="0" i="1">
                <a:solidFill>
                  <a:srgbClr val="6B7280"/>
                </a:solidFill>
                <a:latin typeface="Calibri"/>
              </a:rPr>
              <a:t>[DeSteno 2010 · Ketelaar 2003]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450592"/>
            <a:ext cx="5330952" cy="3675887"/>
          </a:xfrm>
          <a:prstGeom prst="roundRect">
            <a:avLst>
              <a:gd name="adj" fmla="val 3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2651760"/>
            <a:ext cx="5705856" cy="292608"/>
          </a:xfrm>
          <a:prstGeom prst="roundRect">
            <a:avLst>
              <a:gd name="adj" fmla="val 50000"/>
            </a:avLst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PRIOR LLM / VLM BEHAVIOR ANALYSES  (method precedents)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127248"/>
            <a:ext cx="4828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1100" b="1" i="0">
                <a:solidFill>
                  <a:srgbClr val="1A1A2E"/>
                </a:solidFill>
                <a:latin typeface="Calibri"/>
              </a:rPr>
              <a:t>Coda-Forno et al. 2023 — </a:t>
            </a:r>
            <a:r>
              <a:rPr sz="1100" b="0" i="0">
                <a:solidFill>
                  <a:srgbClr val="1A1A2E"/>
                </a:solidFill>
                <a:latin typeface="Calibri"/>
              </a:rPr>
              <a:t>inducing anxiety shifts LLM exploration &amp; bias (affect→behavior, code)  </a:t>
            </a:r>
            <a:r>
              <a:rPr sz="1000" b="0" i="0">
                <a:solidFill>
                  <a:srgbClr val="0B5CAD"/>
                </a:solidFill>
                <a:latin typeface="Calibri"/>
                <a:hlinkClick r:id="rId2"/>
              </a:rPr>
              <a:t>arxiv.org/abs/2304.11111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785615"/>
            <a:ext cx="4828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1100" b="1" i="0">
                <a:solidFill>
                  <a:srgbClr val="1A1A2E"/>
                </a:solidFill>
                <a:latin typeface="Calibri"/>
              </a:rPr>
              <a:t>Binz &amp; Schulz 2023 (PNAS) — </a:t>
            </a:r>
            <a:r>
              <a:rPr sz="1100" b="0" i="0">
                <a:solidFill>
                  <a:srgbClr val="1A1A2E"/>
                </a:solidFill>
                <a:latin typeface="Calibri"/>
              </a:rPr>
              <a:t>cognitive psychology of GPT-3: decisions, risk, biases  </a:t>
            </a:r>
            <a:r>
              <a:rPr sz="1000" b="0" i="0">
                <a:solidFill>
                  <a:srgbClr val="0B5CAD"/>
                </a:solidFill>
                <a:latin typeface="Calibri"/>
                <a:hlinkClick r:id="rId3"/>
              </a:rPr>
              <a:t>arxiv.org/abs/2206.14576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443983"/>
            <a:ext cx="4828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1100" b="1" i="0">
                <a:solidFill>
                  <a:srgbClr val="1A1A2E"/>
                </a:solidFill>
                <a:latin typeface="Calibri"/>
              </a:rPr>
              <a:t>Aher et al. 2023 (ICML) — </a:t>
            </a:r>
            <a:r>
              <a:rPr sz="1100" b="0" i="0">
                <a:solidFill>
                  <a:srgbClr val="1A1A2E"/>
                </a:solidFill>
                <a:latin typeface="Calibri"/>
              </a:rPr>
              <a:t>LLMs replicate human studies incl. Ultimatum Game (code)  </a:t>
            </a:r>
            <a:r>
              <a:rPr sz="1000" b="0" i="0">
                <a:solidFill>
                  <a:srgbClr val="0B5CAD"/>
                </a:solidFill>
                <a:latin typeface="Calibri"/>
                <a:hlinkClick r:id="rId4"/>
              </a:rPr>
              <a:t>arxiv.org/abs/2208.10264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102351"/>
            <a:ext cx="4828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1100" b="1" i="0">
                <a:solidFill>
                  <a:srgbClr val="1A1A2E"/>
                </a:solidFill>
                <a:latin typeface="Calibri"/>
              </a:rPr>
              <a:t>Arditi et al. 2024 — </a:t>
            </a:r>
            <a:r>
              <a:rPr sz="1100" b="0" i="0">
                <a:solidFill>
                  <a:srgbClr val="1A1A2E"/>
                </a:solidFill>
                <a:latin typeface="Calibri"/>
              </a:rPr>
              <a:t>steer / ablate a behavior direction — our core method  </a:t>
            </a:r>
            <a:r>
              <a:rPr sz="1000" b="0" i="0">
                <a:solidFill>
                  <a:srgbClr val="0B5CAD"/>
                </a:solidFill>
                <a:latin typeface="Calibri"/>
                <a:hlinkClick r:id="rId5"/>
              </a:rPr>
              <a:t>arxiv.org/abs/2406.11717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760719"/>
            <a:ext cx="4828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1100" b="1" i="0">
                <a:solidFill>
                  <a:srgbClr val="1A1A2E"/>
                </a:solidFill>
                <a:latin typeface="Calibri"/>
              </a:rPr>
              <a:t>Anthropic 2026 — </a:t>
            </a:r>
            <a:r>
              <a:rPr sz="1100" b="0" i="0">
                <a:solidFill>
                  <a:srgbClr val="1A1A2E"/>
                </a:solidFill>
                <a:latin typeface="Calibri"/>
              </a:rPr>
              <a:t>emotion vectors → behavior (text-only; we extend to images).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30936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E69F00"/>
                </a:solidFill>
                <a:latin typeface="Calibri"/>
              </a:rPr>
              <a:t>Goal: </a:t>
            </a:r>
            <a:r>
              <a:rPr sz="1150" b="0" i="0">
                <a:solidFill>
                  <a:srgbClr val="1A1A2E"/>
                </a:solidFill>
                <a:latin typeface="Calibri"/>
              </a:rPr>
              <a:t>show the VLM tracks emotion appraisals (certainty · control · agency), not just valence — extending affect→behavior LLM work to images + internal mediation.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